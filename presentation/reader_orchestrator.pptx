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파트에서는 도면 판독기(reader)에 LLM orchestrator 를 붙인 작업을 소개합니다. 판독 13단계를 모델이 tool 로 골라 부르게 만들었고, 로컬 모델 Qwen3.6-27B 로 실제 도면 한 장을 끝까지 돌려 봤습니다. 순서는 왜 필요한지, 무엇을 만들었는지, 돌려 보니 어땠는지, 다음에 무엇을 할지입니다.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프로젝트의 목표를 다시 짚겠습니다. 비싼 모델 하나에 맡기는 대신, 값싼 로컬 모델 여러 개와 잘 만든 하네스로 원하는 결과를 내는 것입니다. 하네스는 모델 바깥에서 모델이 일을 잘하게 만드는 장치 전부를 말합니다. 그중 작업 분해와 검증은 판독기에 이미 꽤 있는데, orchestration, 즉 어떤 단계를 언제 부를지를 로컬 모델이 정하는 부분은 비어 있었습니다. 오늘 이야기는 그 빈칸입니다.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 판독기 구조입니다. DXF 도면 한 장을 13단계로 처리합니다. experiments.sh 는 vLLM 서버를 띄우고 main.py --batch 를 부르고, 그 안의 run_drawing 이 13단계를 정해진 순서대로 돕니다. 주황색 5개 단계만 모델을 씁니다. 표제란 OCR 하나와 추론 넷인데, 각각 한 번 묻고 JSON 답을 받을 뿐입니다. 무엇을 할지 고르거나 도구를 부르지 않습니다. 그래서 지금 판독기는 agent 가 아니라 LLM 을 부품으로 쓰는 고정 workflow 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이 무엇인지 짧게 짚겠습니다. 프로그램이 모델에게 질문과 함께 도구 목록을 보냅니다. 도구마다 이름, 설명, 인자 형식이 JSON Schema 로 들어갑니다. 모델은 답 대신 'run_views 를 이 인자로 불러 달라'는 JSON 을 돌려주고, 실제 실행은 우리 프로그램이 합니다. 결과를 다시 모델에게 주면 모델이 다음 도구를 고르고, 더 부를 도구가 없으면 최종 답을 씁니다. 핵심은 모델이 하는 일이 '고르기'뿐이라는 점입니다. 계산과 판독은 여전히 코드가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섞이는 세 용어를 정리했습니다. tool calling 은 모델 API 의 기능으로, 모델이 함수 호출을 요청하는 방식입니다. MCP 는 도구를 별도 서버로 떼어 내서 여러 프로그램이 같은 규격으로 쓰게 하는 프로토콜입니다. MCP 를 써도 모델에게는 결국 tool calling 형식으로 전달됩니다. Agent Skills 는 SKILL.md 라는 지침 문서 묶음을 모델이 골라 읽는 규격입니다. 우리 레포의 skills 폴더와는 이름만 같습니다. 우리 레포는 코드가 단계마다 붙일 문서를 고정해 둡니다. 판정은 tool calling 으로 충분하다는 것입니다. 도구를 쓰는 프로그램이 orchestrator 하나뿐이고 도구가 같은 프로세스의 파이썬 함수이기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것의 구조입니다. 왼쪽에서 자연어 명령이 들어오면 orchestrator 루프가 모델에게 묻고, 모델이 고른 tool 을 실행합니다. tool 은 17개이고, 그중 13개가 판독 단계 하나씩입니다. tool 은 기존 단계 함수를 그대로 부르기 때문에, 고정 순서로 돌린 것과 같은 파일이 작업 폴더에 남습니다. 달라진 것은 순서를 누가 정하느냐 하나뿐입니다. 이게 중요한 이유는 나중에 고정 순서와 orchestrator 를 비교할 때 차이가 순서 결정에서만 나오기 때문입니다. 모델 칸에는 로컬 Qwen 이나 Claude 를 끼울 수 있고, 모든 턴은 trajectory 파일에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을 만들 때 지킨 원칙 네 가지입니다. 첫째, 결과를 작게 돌려줍니다. 첫 단계 파일에는 DXF 엔티티가 전부 들어 있어서 그대로 주면 로컬 모델의 16k 컨텍스트가 바로 찹니다. 그래서 상태와 요약, 모델 호출 성공 여부만 줍니다. 둘째, 오류도 결과로 돌려줍니다. 없는 tool 이나 틀린 인자를 줘도 예외로 죽지 않고 모델이 오류를 보고 고칠 수 있습니다. 셋째, 단계 안에서 쓰는 OCR, 추론 모델은 시작할 때 고정하고 orchestrator 는 순서만 고릅니다. 넷째, 작업 폴더는 출력 폴더 아래로만 제한합니다. 오른쪽이 tool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모델이 tool 을 부르는 방식은 세 가지로 만들었습니다. native 는 OpenAI 호환 표준 tool calling 입니다. 그런데 지금 띄워 둔 vLLM 서버는 tool parser 없이 떠 있어서 400 을 돌려줍니다. 그래서 schema 모드를 만들었습니다. tool 목록을 JSON schema 의 anyOf 로 바꿔서, 모델의 응답이 반드시 tool 호출 하나의 형식이 되게 디코딩 단계에서 강제합니다. 약한 모델이 형식을 틀릴 수가 없습니다. 세 번째는 Claude 입니다. Claude 전용 tool_runner 를 쓰지 않고 같은 루프를 쓴 이유는 로컬과 Claude 를 같은 조건에서 비교하기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대화형으로 만들지 1회용 명령 처리기로 만들지 고민했고, 1회용을 골랐습니다. 이유는 평가 때문입니다. 같은 명령을 같은 조건으로 다시 돌릴 수 있어야 하고, 실행 하나가 기록 폴더 하나로 끝나야 비교하기 쉽습니다. 그러면 이어서 일하는 건 어떻게 하느냐. 상태가 대화가 아니라 작업 폴더의 단계 파일에 남기 때문에, 다음 명령이 stage_status 로 지금 상태를 보고 이어서 일합니다. 대화형이 필요하면 같은 루프에 입력 반복만 붙이면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돌려 본 결과입니다. 합성 도면 cone_0019 에 '전개도까지 판독하고 결과를 알려줘'라고 명령했습니다. orchestrator 는 로컬 Qwen3.6-27B, schema 모드였고, 단계 안의 모델은 DeepSeek-OCR-2 와 같은 Qwen 입니다. 모델은 먼저 list_drawings 로 도면과 작업 폴더를 찾고, 아직 돌린 단계가 없으니 run_stages 로 read 부터 develop 까지 한 번에 돌린 뒤 보고했습니다. 모델 턴은 3번, 전체 133초 중 92초가 단계 실행이었습니다. 보고에 나온 숫자는 전부 tool 결과에 있던 값이고, 지어낸 숫자는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정직하게 평가하겠습니다. 된 것은 자연어 명령을 알맞은 tool 호출로 바꿨고, 보고한 숫자가 모두 tool 결과에 있었고, 로컬 모델만으로 끝까지 돌았다는 점입니다. 한계도 분명합니다. 처음부터 끝까지 그대로 돌리는 일에는 이점이 없습니다. 고정 순서와 같은 일을 하고 40초 정도 더 걸립니다. 판독 정확도도 그대로입니다. 작은 지름이 92 로 나왔는데 정답은 100 이고, 이건 09단계 판독 오차라 orchestrator 와는 관계없습니다. native 모드, Claude, 여러 도면, 실패 복구는 아직 확인하지 않았습니다. 그래서 다음 일은 실패나 review 가 생기는 상황에서 고정 순서보다 나은지를 재는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하네스에서 기록은 중요한 요소입니다. 실행마다 폴더가 하나 생기고, trajectory.jsonl 에 모델 턴마다 한 줄, tool 호출마다 한 줄이 남습니다. 모델이 무슨 생각으로 어떤 tool 을 불렀는지, 토큰을 얼마나 썼는지, tool 이 몇 초 걸렸는지가 다 있습니다. 왼쪽이 실제 기록을 줄인 것입니다. 이 기록이 있어야 로컬과 Claude 를 비교하고, 바꾸기 전후를 숫자로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단계입니다. 첫째, 추론 서버를 tool parser 와 함께 다시 띄워 native 모드를 확인합니다. 둘째, 합성 도면 30장에서 고정 순서와 orchestrator 를 비교합니다. 단계 결과가 같은지, 턴 수, 시간, 토큰을 봅니다. 셋째, 같은 루프로 Claude 와 로컬을 비교합니다. 넷째, 모델 호출이 실패하거나 review 가 생겼을 때 다시 묻기 같은 보완 장치를 orchestrator 가 판단해서 쓰게 합니다. 다섯째, v2 의 분할, 네스팅, POR skill 을 tool 로 붙여 판독 뒤까지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판독기는 LLM 을 부품으로 쓰는 고정 workflow 였고, 이제 LLM 이 단계를 골라 부르는 orchestrator 가 생겼습니다. 이를 위해 필요한 것은 MCP 가 아니라 tool calling 이었습니다. 그리고 같은 루프로 로컬 모델과 Claude 를 바꿔 끼울 수 있게 되어, 다음에는 둘을 숫자로 비교하겠습니다.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30"/>
        </a:solidFill>
        <a:effectLst/>
      </p:bgPr>
    </p:bg>
    <p:spTree>
      <p:nvGrpSpPr>
        <p:cNvPr id="1" name=""/>
        <p:cNvGrpSpPr/>
        <p:nvPr/>
      </p:nvGrpSpPr>
      <p:grpSpPr/>
      <p:sp>
        <p:nvSpPr>
          <p:cNvPr id="2" name="TextBox 1"/>
          <p:cNvSpPr txBox="1"/>
          <p:nvPr/>
        </p:nvSpPr>
        <p:spPr>
          <a:xfrm>
            <a:off x="548640" y="2011680"/>
            <a:ext cx="11094415" cy="1463040"/>
          </a:xfrm>
          <a:prstGeom prst="rect">
            <a:avLst/>
          </a:prstGeom>
          <a:noFill/>
        </p:spPr>
        <p:txBody>
          <a:bodyPr wrap="square" lIns="0" rIns="0" tIns="0" bIns="0" anchor="t">
            <a:spAutoFit/>
          </a:bodyPr>
          <a:lstStyle/>
          <a:p>
            <a:pPr algn="l">
              <a:spcAft>
                <a:spcPts val="400"/>
              </a:spcAft>
            </a:pPr>
            <a:r>
              <a:rPr sz="4000" b="1" i="0">
                <a:solidFill>
                  <a:srgbClr val="FFFFFF"/>
                </a:solidFill>
                <a:latin typeface="Malgun Gothic"/>
                <a:ea typeface="Malgun Gothic"/>
                <a:cs typeface="Malgun Gothic"/>
              </a:rPr>
              <a:t>LLM이 도면 판독 파이프라인을</a:t>
            </a:r>
          </a:p>
          <a:p>
            <a:pPr algn="l">
              <a:spcAft>
                <a:spcPts val="400"/>
              </a:spcAft>
            </a:pPr>
            <a:r>
              <a:rPr sz="4000" b="1" i="0">
                <a:solidFill>
                  <a:srgbClr val="FFFFFF"/>
                </a:solidFill>
                <a:latin typeface="Malgun Gothic"/>
                <a:ea typeface="Malgun Gothic"/>
                <a:cs typeface="Malgun Gothic"/>
              </a:rPr>
              <a:t>직접 운영하게 하기</a:t>
            </a:r>
          </a:p>
        </p:txBody>
      </p:sp>
      <p:sp>
        <p:nvSpPr>
          <p:cNvPr id="3" name="TextBox 2"/>
          <p:cNvSpPr txBox="1"/>
          <p:nvPr/>
        </p:nvSpPr>
        <p:spPr>
          <a:xfrm>
            <a:off x="548640" y="3657600"/>
            <a:ext cx="11094415" cy="457200"/>
          </a:xfrm>
          <a:prstGeom prst="rect">
            <a:avLst/>
          </a:prstGeom>
          <a:noFill/>
        </p:spPr>
        <p:txBody>
          <a:bodyPr wrap="square" lIns="0" rIns="0" tIns="0" bIns="0" anchor="t">
            <a:spAutoFit/>
          </a:bodyPr>
          <a:lstStyle/>
          <a:p>
            <a:pPr algn="l">
              <a:spcAft>
                <a:spcPts val="600"/>
              </a:spcAft>
            </a:pPr>
            <a:r>
              <a:rPr sz="2000" b="0" i="0">
                <a:solidFill>
                  <a:srgbClr val="E8743B"/>
                </a:solidFill>
                <a:latin typeface="Malgun Gothic"/>
                <a:ea typeface="Malgun Gothic"/>
                <a:cs typeface="Malgun Gothic"/>
              </a:rPr>
              <a:t>Tool calling 기반 판독 orchestrator — 로컬 LLM 하네스 엔지니어링</a:t>
            </a:r>
          </a:p>
        </p:txBody>
      </p:sp>
      <p:sp>
        <p:nvSpPr>
          <p:cNvPr id="4" name="TextBox 3"/>
          <p:cNvSpPr txBox="1"/>
          <p:nvPr/>
        </p:nvSpPr>
        <p:spPr>
          <a:xfrm>
            <a:off x="548640" y="5852160"/>
            <a:ext cx="11094415" cy="365760"/>
          </a:xfrm>
          <a:prstGeom prst="rect">
            <a:avLst/>
          </a:prstGeom>
          <a:noFill/>
        </p:spPr>
        <p:txBody>
          <a:bodyPr wrap="square" lIns="0" rIns="0" tIns="0" bIns="0" anchor="t">
            <a:spAutoFit/>
          </a:bodyPr>
          <a:lstStyle/>
          <a:p>
            <a:pPr algn="l">
              <a:spcAft>
                <a:spcPts val="600"/>
              </a:spcAft>
            </a:pPr>
            <a:r>
              <a:rPr sz="1400" b="0" i="0">
                <a:solidFill>
                  <a:srgbClr val="B8C4C9"/>
                </a:solidFill>
                <a:latin typeface="Malgun Gothic"/>
                <a:ea typeface="Malgun Gothic"/>
                <a:cs typeface="Malgun Gothic"/>
              </a:rPr>
              <a:t>PBL cutplan_agent · 2026-10-24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목표: 값싼 로컬 LLM + 좋은 하네스</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모델을 키우는 대신, 모델 바깥의 장치로 결과를 낸다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2</a:t>
            </a:r>
          </a:p>
        </p:txBody>
      </p:sp>
      <p:sp>
        <p:nvSpPr>
          <p:cNvPr id="6" name="Rounded Rectangle 5"/>
          <p:cNvSpPr/>
          <p:nvPr/>
        </p:nvSpPr>
        <p:spPr>
          <a:xfrm>
            <a:off x="548640" y="1783080"/>
            <a:ext cx="3566160" cy="2743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200" b="1" i="0">
                <a:solidFill>
                  <a:srgbClr val="2E6F73"/>
                </a:solidFill>
                <a:latin typeface="Malgun Gothic"/>
                <a:ea typeface="Malgun Gothic"/>
                <a:cs typeface="Malgun Gothic"/>
              </a:rPr>
              <a:t>작업 분해</a:t>
            </a:r>
          </a:p>
          <a:p>
            <a:pPr algn="l">
              <a:spcAft>
                <a:spcPts val="1000"/>
              </a:spcAft>
            </a:pPr>
            <a:r>
              <a:rPr sz="1600" b="0" i="0">
                <a:solidFill>
                  <a:srgbClr val="1F2A30"/>
                </a:solidFill>
                <a:latin typeface="Malgun Gothic"/>
                <a:ea typeface="Malgun Gothic"/>
                <a:cs typeface="Malgun Gothic"/>
              </a:rPr>
              <a:t>큰 일을 단계로 나누고, 모델에게는 좁고 확인 가능한 판단만 맡긴다</a:t>
            </a:r>
          </a:p>
        </p:txBody>
      </p:sp>
      <p:sp>
        <p:nvSpPr>
          <p:cNvPr id="7" name="Rounded Rectangle 6"/>
          <p:cNvSpPr/>
          <p:nvPr/>
        </p:nvSpPr>
        <p:spPr>
          <a:xfrm>
            <a:off x="822959" y="3931920"/>
            <a:ext cx="2194560" cy="384048"/>
          </a:xfrm>
          <a:prstGeom prst="roundRect">
            <a:avLst>
              <a:gd name="adj" fmla="val 15000"/>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0" i="0">
                <a:solidFill>
                  <a:srgbClr val="FFFFFF"/>
                </a:solidFill>
                <a:latin typeface="Malgun Gothic"/>
                <a:ea typeface="Malgun Gothic"/>
                <a:cs typeface="Malgun Gothic"/>
              </a:rPr>
              <a:t>있음 · 13단계</a:t>
            </a:r>
          </a:p>
        </p:txBody>
      </p:sp>
      <p:sp>
        <p:nvSpPr>
          <p:cNvPr id="8" name="Rounded Rectangle 7"/>
          <p:cNvSpPr/>
          <p:nvPr/>
        </p:nvSpPr>
        <p:spPr>
          <a:xfrm>
            <a:off x="4297679" y="1783080"/>
            <a:ext cx="3566160" cy="2743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200" b="1" i="0">
                <a:solidFill>
                  <a:srgbClr val="2E6F73"/>
                </a:solidFill>
                <a:latin typeface="Malgun Gothic"/>
                <a:ea typeface="Malgun Gothic"/>
                <a:cs typeface="Malgun Gothic"/>
              </a:rPr>
              <a:t>검증과 폴백</a:t>
            </a:r>
          </a:p>
          <a:p>
            <a:pPr algn="l">
              <a:spcAft>
                <a:spcPts val="1000"/>
              </a:spcAft>
            </a:pPr>
            <a:r>
              <a:rPr sz="1600" b="0" i="0">
                <a:solidFill>
                  <a:srgbClr val="1F2A30"/>
                </a:solidFill>
                <a:latin typeface="Malgun Gothic"/>
                <a:ea typeface="Malgun Gothic"/>
                <a:cs typeface="Malgun Gothic"/>
              </a:rPr>
              <a:t>모델 답을 코드로 검사하고, 틀리면 결정적 방법이나 사람 확인으로</a:t>
            </a:r>
          </a:p>
        </p:txBody>
      </p:sp>
      <p:sp>
        <p:nvSpPr>
          <p:cNvPr id="9" name="Rounded Rectangle 8"/>
          <p:cNvSpPr/>
          <p:nvPr/>
        </p:nvSpPr>
        <p:spPr>
          <a:xfrm>
            <a:off x="4571999" y="3931920"/>
            <a:ext cx="2194560" cy="384048"/>
          </a:xfrm>
          <a:prstGeom prst="roundRect">
            <a:avLst>
              <a:gd name="adj" fmla="val 15000"/>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0" i="0">
                <a:solidFill>
                  <a:srgbClr val="FFFFFF"/>
                </a:solidFill>
                <a:latin typeface="Malgun Gothic"/>
                <a:ea typeface="Malgun Gothic"/>
                <a:cs typeface="Malgun Gothic"/>
              </a:rPr>
              <a:t>있음 · review</a:t>
            </a:r>
          </a:p>
        </p:txBody>
      </p:sp>
      <p:sp>
        <p:nvSpPr>
          <p:cNvPr id="10" name="Rounded Rectangle 9"/>
          <p:cNvSpPr/>
          <p:nvPr/>
        </p:nvSpPr>
        <p:spPr>
          <a:xfrm>
            <a:off x="8046719" y="1783080"/>
            <a:ext cx="3566160" cy="2743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200" b="1" i="0">
                <a:solidFill>
                  <a:srgbClr val="E8743B"/>
                </a:solidFill>
                <a:latin typeface="Malgun Gothic"/>
                <a:ea typeface="Malgun Gothic"/>
                <a:cs typeface="Malgun Gothic"/>
              </a:rPr>
              <a:t>orchestration</a:t>
            </a:r>
          </a:p>
          <a:p>
            <a:pPr algn="l">
              <a:spcAft>
                <a:spcPts val="1000"/>
              </a:spcAft>
            </a:pPr>
            <a:r>
              <a:rPr sz="1600" b="0" i="0">
                <a:solidFill>
                  <a:srgbClr val="1F2A30"/>
                </a:solidFill>
                <a:latin typeface="Malgun Gothic"/>
                <a:ea typeface="Malgun Gothic"/>
                <a:cs typeface="Malgun Gothic"/>
              </a:rPr>
              <a:t>어떤 단계를 어떤 모델로 언제 다시 부를지 정한다</a:t>
            </a:r>
          </a:p>
        </p:txBody>
      </p:sp>
      <p:sp>
        <p:nvSpPr>
          <p:cNvPr id="11" name="Rounded Rectangle 10"/>
          <p:cNvSpPr/>
          <p:nvPr/>
        </p:nvSpPr>
        <p:spPr>
          <a:xfrm>
            <a:off x="8321040" y="3931920"/>
            <a:ext cx="2194560" cy="384048"/>
          </a:xfrm>
          <a:prstGeom prst="roundRect">
            <a:avLst>
              <a:gd name="adj" fmla="val 15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0" i="0">
                <a:solidFill>
                  <a:srgbClr val="FFFFFF"/>
                </a:solidFill>
                <a:latin typeface="Malgun Gothic"/>
                <a:ea typeface="Malgun Gothic"/>
                <a:cs typeface="Malgun Gothic"/>
              </a:rPr>
              <a:t>없음 → 오늘 주제</a:t>
            </a:r>
          </a:p>
        </p:txBody>
      </p:sp>
      <p:sp>
        <p:nvSpPr>
          <p:cNvPr id="12" name="Rounded Rectangle 11"/>
          <p:cNvSpPr/>
          <p:nvPr/>
        </p:nvSpPr>
        <p:spPr>
          <a:xfrm>
            <a:off x="548640" y="4846320"/>
            <a:ext cx="11094415" cy="109728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600" b="1" i="0">
                <a:solidFill>
                  <a:srgbClr val="E8743B"/>
                </a:solidFill>
                <a:latin typeface="Malgun Gothic"/>
                <a:ea typeface="Malgun Gothic"/>
                <a:cs typeface="Malgun Gothic"/>
              </a:rPr>
              <a:t>성공 기준  </a:t>
            </a:r>
            <a:r>
              <a:rPr sz="1600" b="0" i="0">
                <a:solidFill>
                  <a:srgbClr val="1F2A30"/>
                </a:solidFill>
                <a:latin typeface="Malgun Gothic"/>
                <a:ea typeface="Malgun Gothic"/>
                <a:cs typeface="Malgun Gothic"/>
              </a:rPr>
              <a:t>orchestration 도 로컬 모델이 하고, 같은 하네스에서 Claude 와 비슷한 결과를 숫자로 보인다 (docs/harness_engineering.md)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지금 판독기: LLM은 부품이다</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13단계가 코드에 고정된 순서로 돌고, LLM 은 5곳에서 한 번씩 묻고 답을 받는다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3</a:t>
            </a:r>
          </a:p>
        </p:txBody>
      </p:sp>
      <p:sp>
        <p:nvSpPr>
          <p:cNvPr id="6" name="Rounded Rectangle 5"/>
          <p:cNvSpPr/>
          <p:nvPr/>
        </p:nvSpPr>
        <p:spPr>
          <a:xfrm>
            <a:off x="548640" y="1783080"/>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01</a:t>
            </a:r>
          </a:p>
          <a:p>
            <a:pPr algn="ctr">
              <a:spcAft>
                <a:spcPts val="0"/>
              </a:spcAft>
            </a:pPr>
            <a:r>
              <a:rPr sz="1300" b="0" i="0">
                <a:solidFill>
                  <a:srgbClr val="1F2A30"/>
                </a:solidFill>
                <a:latin typeface="Malgun Gothic"/>
                <a:ea typeface="Malgun Gothic"/>
                <a:cs typeface="Malgun Gothic"/>
              </a:rPr>
              <a:t>read</a:t>
            </a:r>
          </a:p>
        </p:txBody>
      </p:sp>
      <p:sp>
        <p:nvSpPr>
          <p:cNvPr id="7" name="Rounded Rectangle 6"/>
          <p:cNvSpPr/>
          <p:nvPr/>
        </p:nvSpPr>
        <p:spPr>
          <a:xfrm>
            <a:off x="2139696" y="1783080"/>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02</a:t>
            </a:r>
          </a:p>
          <a:p>
            <a:pPr algn="ctr">
              <a:spcAft>
                <a:spcPts val="0"/>
              </a:spcAft>
            </a:pPr>
            <a:r>
              <a:rPr sz="1300" b="0" i="0">
                <a:solidFill>
                  <a:srgbClr val="1F2A30"/>
                </a:solidFill>
                <a:latin typeface="Malgun Gothic"/>
                <a:ea typeface="Malgun Gothic"/>
                <a:cs typeface="Malgun Gothic"/>
              </a:rPr>
              <a:t>title_regex</a:t>
            </a:r>
          </a:p>
        </p:txBody>
      </p:sp>
      <p:sp>
        <p:nvSpPr>
          <p:cNvPr id="8" name="Rounded Rectangle 7"/>
          <p:cNvSpPr/>
          <p:nvPr/>
        </p:nvSpPr>
        <p:spPr>
          <a:xfrm>
            <a:off x="3730752" y="1783080"/>
            <a:ext cx="1481328" cy="868680"/>
          </a:xfrm>
          <a:prstGeom prst="roundRect">
            <a:avLst>
              <a:gd name="adj" fmla="val 12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FFFFFF"/>
                </a:solidFill>
                <a:latin typeface="Malgun Gothic"/>
                <a:ea typeface="Malgun Gothic"/>
                <a:cs typeface="Malgun Gothic"/>
              </a:rPr>
              <a:t>03</a:t>
            </a:r>
          </a:p>
          <a:p>
            <a:pPr algn="ctr">
              <a:spcAft>
                <a:spcPts val="0"/>
              </a:spcAft>
            </a:pPr>
            <a:r>
              <a:rPr sz="1300" b="0" i="0">
                <a:solidFill>
                  <a:srgbClr val="FFFFFF"/>
                </a:solidFill>
                <a:latin typeface="Malgun Gothic"/>
                <a:ea typeface="Malgun Gothic"/>
                <a:cs typeface="Malgun Gothic"/>
              </a:rPr>
              <a:t>title_ocr</a:t>
            </a:r>
          </a:p>
        </p:txBody>
      </p:sp>
      <p:sp>
        <p:nvSpPr>
          <p:cNvPr id="9" name="Rounded Rectangle 8"/>
          <p:cNvSpPr/>
          <p:nvPr/>
        </p:nvSpPr>
        <p:spPr>
          <a:xfrm>
            <a:off x="5321808" y="1783080"/>
            <a:ext cx="1481328" cy="868680"/>
          </a:xfrm>
          <a:prstGeom prst="roundRect">
            <a:avLst>
              <a:gd name="adj" fmla="val 12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FFFFFF"/>
                </a:solidFill>
                <a:latin typeface="Malgun Gothic"/>
                <a:ea typeface="Malgun Gothic"/>
                <a:cs typeface="Malgun Gothic"/>
              </a:rPr>
              <a:t>04</a:t>
            </a:r>
          </a:p>
          <a:p>
            <a:pPr algn="ctr">
              <a:spcAft>
                <a:spcPts val="0"/>
              </a:spcAft>
            </a:pPr>
            <a:r>
              <a:rPr sz="1300" b="0" i="0">
                <a:solidFill>
                  <a:srgbClr val="FFFFFF"/>
                </a:solidFill>
                <a:latin typeface="Malgun Gothic"/>
                <a:ea typeface="Malgun Gothic"/>
                <a:cs typeface="Malgun Gothic"/>
              </a:rPr>
              <a:t>title_fields</a:t>
            </a:r>
          </a:p>
        </p:txBody>
      </p:sp>
      <p:sp>
        <p:nvSpPr>
          <p:cNvPr id="10" name="Rounded Rectangle 9"/>
          <p:cNvSpPr/>
          <p:nvPr/>
        </p:nvSpPr>
        <p:spPr>
          <a:xfrm>
            <a:off x="6912864" y="1783080"/>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05</a:t>
            </a:r>
          </a:p>
          <a:p>
            <a:pPr algn="ctr">
              <a:spcAft>
                <a:spcPts val="0"/>
              </a:spcAft>
            </a:pPr>
            <a:r>
              <a:rPr sz="1300" b="0" i="0">
                <a:solidFill>
                  <a:srgbClr val="1F2A30"/>
                </a:solidFill>
                <a:latin typeface="Malgun Gothic"/>
                <a:ea typeface="Malgun Gothic"/>
                <a:cs typeface="Malgun Gothic"/>
              </a:rPr>
              <a:t>views</a:t>
            </a:r>
          </a:p>
        </p:txBody>
      </p:sp>
      <p:sp>
        <p:nvSpPr>
          <p:cNvPr id="11" name="Rounded Rectangle 10"/>
          <p:cNvSpPr/>
          <p:nvPr/>
        </p:nvSpPr>
        <p:spPr>
          <a:xfrm>
            <a:off x="8503920" y="1783080"/>
            <a:ext cx="1481328" cy="868680"/>
          </a:xfrm>
          <a:prstGeom prst="roundRect">
            <a:avLst>
              <a:gd name="adj" fmla="val 12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FFFFFF"/>
                </a:solidFill>
                <a:latin typeface="Malgun Gothic"/>
                <a:ea typeface="Malgun Gothic"/>
                <a:cs typeface="Malgun Gothic"/>
              </a:rPr>
              <a:t>06</a:t>
            </a:r>
          </a:p>
          <a:p>
            <a:pPr algn="ctr">
              <a:spcAft>
                <a:spcPts val="0"/>
              </a:spcAft>
            </a:pPr>
            <a:r>
              <a:rPr sz="1300" b="0" i="0">
                <a:solidFill>
                  <a:srgbClr val="FFFFFF"/>
                </a:solidFill>
                <a:latin typeface="Malgun Gothic"/>
                <a:ea typeface="Malgun Gothic"/>
                <a:cs typeface="Malgun Gothic"/>
              </a:rPr>
              <a:t>view_labels</a:t>
            </a:r>
          </a:p>
        </p:txBody>
      </p:sp>
      <p:sp>
        <p:nvSpPr>
          <p:cNvPr id="12" name="Rounded Rectangle 11"/>
          <p:cNvSpPr/>
          <p:nvPr/>
        </p:nvSpPr>
        <p:spPr>
          <a:xfrm>
            <a:off x="10094976" y="1783080"/>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07</a:t>
            </a:r>
          </a:p>
          <a:p>
            <a:pPr algn="ctr">
              <a:spcAft>
                <a:spcPts val="0"/>
              </a:spcAft>
            </a:pPr>
            <a:r>
              <a:rPr sz="1300" b="0" i="0">
                <a:solidFill>
                  <a:srgbClr val="1F2A30"/>
                </a:solidFill>
                <a:latin typeface="Malgun Gothic"/>
                <a:ea typeface="Malgun Gothic"/>
                <a:cs typeface="Malgun Gothic"/>
              </a:rPr>
              <a:t>sheet</a:t>
            </a:r>
          </a:p>
        </p:txBody>
      </p:sp>
      <p:sp>
        <p:nvSpPr>
          <p:cNvPr id="13" name="Rounded Rectangle 12"/>
          <p:cNvSpPr/>
          <p:nvPr/>
        </p:nvSpPr>
        <p:spPr>
          <a:xfrm>
            <a:off x="1344168" y="2834639"/>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08</a:t>
            </a:r>
          </a:p>
          <a:p>
            <a:pPr algn="ctr">
              <a:spcAft>
                <a:spcPts val="0"/>
              </a:spcAft>
            </a:pPr>
            <a:r>
              <a:rPr sz="1300" b="0" i="0">
                <a:solidFill>
                  <a:srgbClr val="1F2A30"/>
                </a:solidFill>
                <a:latin typeface="Malgun Gothic"/>
                <a:ea typeface="Malgun Gothic"/>
                <a:cs typeface="Malgun Gothic"/>
              </a:rPr>
              <a:t>document</a:t>
            </a:r>
          </a:p>
        </p:txBody>
      </p:sp>
      <p:sp>
        <p:nvSpPr>
          <p:cNvPr id="14" name="Rounded Rectangle 13"/>
          <p:cNvSpPr/>
          <p:nvPr/>
        </p:nvSpPr>
        <p:spPr>
          <a:xfrm>
            <a:off x="2935224" y="2834639"/>
            <a:ext cx="1481328" cy="868680"/>
          </a:xfrm>
          <a:prstGeom prst="roundRect">
            <a:avLst>
              <a:gd name="adj" fmla="val 12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FFFFFF"/>
                </a:solidFill>
                <a:latin typeface="Malgun Gothic"/>
                <a:ea typeface="Malgun Gothic"/>
                <a:cs typeface="Malgun Gothic"/>
              </a:rPr>
              <a:t>09</a:t>
            </a:r>
          </a:p>
          <a:p>
            <a:pPr algn="ctr">
              <a:spcAft>
                <a:spcPts val="0"/>
              </a:spcAft>
            </a:pPr>
            <a:r>
              <a:rPr sz="1300" b="0" i="0">
                <a:solidFill>
                  <a:srgbClr val="FFFFFF"/>
                </a:solidFill>
                <a:latin typeface="Malgun Gothic"/>
                <a:ea typeface="Malgun Gothic"/>
                <a:cs typeface="Malgun Gothic"/>
              </a:rPr>
              <a:t>unfold_params</a:t>
            </a:r>
          </a:p>
        </p:txBody>
      </p:sp>
      <p:sp>
        <p:nvSpPr>
          <p:cNvPr id="15" name="Rounded Rectangle 14"/>
          <p:cNvSpPr/>
          <p:nvPr/>
        </p:nvSpPr>
        <p:spPr>
          <a:xfrm>
            <a:off x="4526280" y="2834639"/>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10</a:t>
            </a:r>
          </a:p>
          <a:p>
            <a:pPr algn="ctr">
              <a:spcAft>
                <a:spcPts val="0"/>
              </a:spcAft>
            </a:pPr>
            <a:r>
              <a:rPr sz="1300" b="0" i="0">
                <a:solidFill>
                  <a:srgbClr val="1F2A30"/>
                </a:solidFill>
                <a:latin typeface="Malgun Gothic"/>
                <a:ea typeface="Malgun Gothic"/>
                <a:cs typeface="Malgun Gothic"/>
              </a:rPr>
              <a:t>develop</a:t>
            </a:r>
          </a:p>
        </p:txBody>
      </p:sp>
      <p:sp>
        <p:nvSpPr>
          <p:cNvPr id="16" name="Rounded Rectangle 15"/>
          <p:cNvSpPr/>
          <p:nvPr/>
        </p:nvSpPr>
        <p:spPr>
          <a:xfrm>
            <a:off x="6117336" y="2834639"/>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11</a:t>
            </a:r>
          </a:p>
          <a:p>
            <a:pPr algn="ctr">
              <a:spcAft>
                <a:spcPts val="0"/>
              </a:spcAft>
            </a:pPr>
            <a:r>
              <a:rPr sz="1300" b="0" i="0">
                <a:solidFill>
                  <a:srgbClr val="1F2A30"/>
                </a:solidFill>
                <a:latin typeface="Malgun Gothic"/>
                <a:ea typeface="Malgun Gothic"/>
                <a:cs typeface="Malgun Gothic"/>
              </a:rPr>
              <a:t>reconstruct</a:t>
            </a:r>
          </a:p>
        </p:txBody>
      </p:sp>
      <p:sp>
        <p:nvSpPr>
          <p:cNvPr id="17" name="Rounded Rectangle 16"/>
          <p:cNvSpPr/>
          <p:nvPr/>
        </p:nvSpPr>
        <p:spPr>
          <a:xfrm>
            <a:off x="7708392" y="2834639"/>
            <a:ext cx="1481328" cy="868680"/>
          </a:xfrm>
          <a:prstGeom prst="roundRect">
            <a:avLst>
              <a:gd name="adj" fmla="val 12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FFFFFF"/>
                </a:solidFill>
                <a:latin typeface="Malgun Gothic"/>
                <a:ea typeface="Malgun Gothic"/>
                <a:cs typeface="Malgun Gothic"/>
              </a:rPr>
              <a:t>12</a:t>
            </a:r>
          </a:p>
          <a:p>
            <a:pPr algn="ctr">
              <a:spcAft>
                <a:spcPts val="0"/>
              </a:spcAft>
            </a:pPr>
            <a:r>
              <a:rPr sz="1300" b="0" i="0">
                <a:solidFill>
                  <a:srgbClr val="FFFFFF"/>
                </a:solidFill>
                <a:latin typeface="Malgun Gothic"/>
                <a:ea typeface="Malgun Gothic"/>
                <a:cs typeface="Malgun Gothic"/>
              </a:rPr>
              <a:t>confirm</a:t>
            </a:r>
          </a:p>
        </p:txBody>
      </p:sp>
      <p:sp>
        <p:nvSpPr>
          <p:cNvPr id="18" name="Rounded Rectangle 17"/>
          <p:cNvSpPr/>
          <p:nvPr/>
        </p:nvSpPr>
        <p:spPr>
          <a:xfrm>
            <a:off x="9299448" y="2834639"/>
            <a:ext cx="1481328" cy="868680"/>
          </a:xfrm>
          <a:prstGeom prst="roundRect">
            <a:avLst>
              <a:gd name="adj" fmla="val 12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0"/>
              </a:spcAft>
            </a:pPr>
            <a:r>
              <a:rPr sz="1200" b="1" i="0">
                <a:solidFill>
                  <a:srgbClr val="1F2A30"/>
                </a:solidFill>
                <a:latin typeface="Malgun Gothic"/>
                <a:ea typeface="Malgun Gothic"/>
                <a:cs typeface="Malgun Gothic"/>
              </a:rPr>
              <a:t>13</a:t>
            </a:r>
          </a:p>
          <a:p>
            <a:pPr algn="ctr">
              <a:spcAft>
                <a:spcPts val="0"/>
              </a:spcAft>
            </a:pPr>
            <a:r>
              <a:rPr sz="1300" b="0" i="0">
                <a:solidFill>
                  <a:srgbClr val="1F2A30"/>
                </a:solidFill>
                <a:latin typeface="Malgun Gothic"/>
                <a:ea typeface="Malgun Gothic"/>
                <a:cs typeface="Malgun Gothic"/>
              </a:rPr>
              <a:t>export</a:t>
            </a:r>
          </a:p>
        </p:txBody>
      </p:sp>
      <p:sp>
        <p:nvSpPr>
          <p:cNvPr id="19" name="Rounded Rectangle 18"/>
          <p:cNvSpPr/>
          <p:nvPr/>
        </p:nvSpPr>
        <p:spPr>
          <a:xfrm>
            <a:off x="548640" y="3886200"/>
            <a:ext cx="292608" cy="292608"/>
          </a:xfrm>
          <a:prstGeom prst="roundRect">
            <a:avLst>
              <a:gd name="adj" fmla="val 15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0" i="0">
                <a:solidFill>
                  <a:srgbClr val="1F2A30"/>
                </a:solidFill>
                <a:latin typeface="Malgun Gothic"/>
                <a:ea typeface="Malgun Gothic"/>
                <a:cs typeface="Malgun Gothic"/>
              </a:rPr>
              <a:t/>
            </a:r>
          </a:p>
        </p:txBody>
      </p:sp>
      <p:sp>
        <p:nvSpPr>
          <p:cNvPr id="20" name="TextBox 19"/>
          <p:cNvSpPr txBox="1"/>
          <p:nvPr/>
        </p:nvSpPr>
        <p:spPr>
          <a:xfrm>
            <a:off x="960120" y="3858768"/>
            <a:ext cx="5486400" cy="365760"/>
          </a:xfrm>
          <a:prstGeom prst="rect">
            <a:avLst/>
          </a:prstGeom>
          <a:noFill/>
        </p:spPr>
        <p:txBody>
          <a:bodyPr wrap="square" lIns="0" rIns="0" tIns="0" bIns="0" anchor="t">
            <a:spAutoFit/>
          </a:bodyPr>
          <a:lstStyle/>
          <a:p>
            <a:pPr algn="l">
              <a:spcAft>
                <a:spcPts val="600"/>
              </a:spcAft>
            </a:pPr>
            <a:r>
              <a:rPr sz="1400" b="0" i="0">
                <a:solidFill>
                  <a:srgbClr val="5F6B73"/>
                </a:solidFill>
                <a:latin typeface="Malgun Gothic"/>
                <a:ea typeface="Malgun Gothic"/>
                <a:cs typeface="Malgun Gothic"/>
              </a:rPr>
              <a:t>모델 사용 단계 — OCR 1곳(03), 추론 4곳(04 · 06 · 09 · 12)</a:t>
            </a:r>
          </a:p>
        </p:txBody>
      </p:sp>
      <p:sp>
        <p:nvSpPr>
          <p:cNvPr id="21" name="Rounded Rectangle 20"/>
          <p:cNvSpPr/>
          <p:nvPr/>
        </p:nvSpPr>
        <p:spPr>
          <a:xfrm>
            <a:off x="548640" y="4434840"/>
            <a:ext cx="5394960" cy="914400"/>
          </a:xfrm>
          <a:prstGeom prst="roundRect">
            <a:avLst>
              <a:gd name="adj" fmla="val 3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200"/>
              </a:spcAft>
            </a:pPr>
            <a:r>
              <a:rPr sz="1300" b="0" i="0">
                <a:solidFill>
                  <a:srgbClr val="E6EDF0"/>
                </a:solidFill>
                <a:latin typeface="Consolas"/>
                <a:ea typeface="Consolas"/>
                <a:cs typeface="Consolas"/>
              </a:rPr>
              <a:t>experiments.sh → main.py --batch</a:t>
            </a:r>
          </a:p>
          <a:p>
            <a:pPr algn="l">
              <a:spcAft>
                <a:spcPts val="200"/>
              </a:spcAft>
            </a:pPr>
            <a:r>
              <a:rPr sz="1300" b="0" i="0">
                <a:solidFill>
                  <a:srgbClr val="E6EDF0"/>
                </a:solidFill>
                <a:latin typeface="Consolas"/>
                <a:ea typeface="Consolas"/>
                <a:cs typeface="Consolas"/>
              </a:rPr>
              <a:t>  → run_drawing(): 01 → 02 → … → 13 (순서 고정)</a:t>
            </a:r>
          </a:p>
        </p:txBody>
      </p:sp>
      <p:sp>
        <p:nvSpPr>
          <p:cNvPr id="22" name="Rounded Rectangle 21"/>
          <p:cNvSpPr/>
          <p:nvPr/>
        </p:nvSpPr>
        <p:spPr>
          <a:xfrm>
            <a:off x="6217920" y="4434840"/>
            <a:ext cx="5425135" cy="91440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700" b="1" i="0">
                <a:solidFill>
                  <a:srgbClr val="E8743B"/>
                </a:solidFill>
                <a:latin typeface="Malgun Gothic"/>
                <a:ea typeface="Malgun Gothic"/>
                <a:cs typeface="Malgun Gothic"/>
              </a:rPr>
              <a:t>빈칸  </a:t>
            </a:r>
            <a:r>
              <a:rPr sz="1700" b="0" i="0">
                <a:solidFill>
                  <a:srgbClr val="1F2A30"/>
                </a:solidFill>
                <a:latin typeface="Malgun Gothic"/>
                <a:ea typeface="Malgun Gothic"/>
                <a:cs typeface="Malgun Gothic"/>
              </a:rPr>
              <a:t>순서를 정하는 LLM 이 없다 (로드맵 6번)</a:t>
            </a:r>
          </a:p>
        </p:txBody>
      </p:sp>
      <p:sp>
        <p:nvSpPr>
          <p:cNvPr id="23" name="TextBox 22"/>
          <p:cNvSpPr txBox="1"/>
          <p:nvPr/>
        </p:nvSpPr>
        <p:spPr>
          <a:xfrm>
            <a:off x="548640" y="5532120"/>
            <a:ext cx="11094415" cy="457200"/>
          </a:xfrm>
          <a:prstGeom prst="rect">
            <a:avLst/>
          </a:prstGeom>
          <a:noFill/>
        </p:spPr>
        <p:txBody>
          <a:bodyPr wrap="square" lIns="0" rIns="0" tIns="0" bIns="0" anchor="t">
            <a:spAutoFit/>
          </a:bodyPr>
          <a:lstStyle/>
          <a:p>
            <a:pPr algn="l">
              <a:spcAft>
                <a:spcPts val="600"/>
              </a:spcAft>
            </a:pPr>
            <a:r>
              <a:rPr sz="1400" b="0" i="0">
                <a:solidFill>
                  <a:srgbClr val="5F6B73"/>
                </a:solidFill>
                <a:latin typeface="Malgun Gothic"/>
                <a:ea typeface="Malgun Gothic"/>
                <a:cs typeface="Malgun Gothic"/>
              </a:rPr>
              <a:t>v2 워크오더 에이전트에는 Claude orchestrator 가 있었지만 Claude 전용 기능(tool_runner)에 묶여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Tool calling: 모델은 고르기만 한다</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모델은 코드를 실행하지 않는다. 다음에 부를 함수와 인자를 JSON 으로 요청할 뿐이다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4</a:t>
            </a:r>
          </a:p>
        </p:txBody>
      </p:sp>
      <p:sp>
        <p:nvSpPr>
          <p:cNvPr id="6" name="Rounded Rectangle 5"/>
          <p:cNvSpPr/>
          <p:nvPr/>
        </p:nvSpPr>
        <p:spPr>
          <a:xfrm>
            <a:off x="548640" y="1691640"/>
            <a:ext cx="2514600" cy="2057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685800" bIns="201168"/>
          <a:lstStyle/>
          <a:p>
            <a:pPr algn="l">
              <a:spcAft>
                <a:spcPts val="800"/>
              </a:spcAft>
            </a:pPr>
            <a:r>
              <a:rPr sz="1800" b="1" i="0">
                <a:solidFill>
                  <a:srgbClr val="1F2A30"/>
                </a:solidFill>
                <a:latin typeface="Malgun Gothic"/>
                <a:ea typeface="Malgun Gothic"/>
                <a:cs typeface="Malgun Gothic"/>
              </a:rPr>
              <a:t>질문 + 도구 목록</a:t>
            </a:r>
          </a:p>
          <a:p>
            <a:pPr algn="l">
              <a:spcAft>
                <a:spcPts val="800"/>
              </a:spcAft>
            </a:pPr>
            <a:r>
              <a:rPr sz="1500" b="0" i="0">
                <a:solidFill>
                  <a:srgbClr val="5F6B73"/>
                </a:solidFill>
                <a:latin typeface="Malgun Gothic"/>
                <a:ea typeface="Malgun Gothic"/>
                <a:cs typeface="Malgun Gothic"/>
              </a:rPr>
              <a:t>이름 · 설명 · 인자 JSON Schema 를 같이 보낸다</a:t>
            </a:r>
          </a:p>
        </p:txBody>
      </p:sp>
      <p:sp>
        <p:nvSpPr>
          <p:cNvPr id="7" name="Oval 6"/>
          <p:cNvSpPr/>
          <p:nvPr/>
        </p:nvSpPr>
        <p:spPr>
          <a:xfrm>
            <a:off x="749808" y="1828800"/>
            <a:ext cx="457200" cy="4572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600" b="1" i="0">
                <a:solidFill>
                  <a:srgbClr val="FFFFFF"/>
                </a:solidFill>
                <a:latin typeface="Malgun Gothic"/>
                <a:ea typeface="Malgun Gothic"/>
                <a:cs typeface="Malgun Gothic"/>
              </a:rPr>
              <a:t>1</a:t>
            </a:r>
          </a:p>
        </p:txBody>
      </p:sp>
      <p:sp>
        <p:nvSpPr>
          <p:cNvPr id="8" name="Right Arrow 7"/>
          <p:cNvSpPr/>
          <p:nvPr/>
        </p:nvSpPr>
        <p:spPr>
          <a:xfrm>
            <a:off x="3108960" y="2560320"/>
            <a:ext cx="256032"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0712" y="1691640"/>
            <a:ext cx="2514600" cy="2057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685800" bIns="201168"/>
          <a:lstStyle/>
          <a:p>
            <a:pPr algn="l">
              <a:spcAft>
                <a:spcPts val="800"/>
              </a:spcAft>
            </a:pPr>
            <a:r>
              <a:rPr sz="1800" b="1" i="0">
                <a:solidFill>
                  <a:srgbClr val="1F2A30"/>
                </a:solidFill>
                <a:latin typeface="Malgun Gothic"/>
                <a:ea typeface="Malgun Gothic"/>
                <a:cs typeface="Malgun Gothic"/>
              </a:rPr>
              <a:t>모델이 JSON 요청</a:t>
            </a:r>
          </a:p>
          <a:p>
            <a:pPr algn="l">
              <a:spcAft>
                <a:spcPts val="800"/>
              </a:spcAft>
            </a:pPr>
            <a:r>
              <a:rPr sz="1500" b="0" i="0">
                <a:solidFill>
                  <a:srgbClr val="5F6B73"/>
                </a:solidFill>
                <a:latin typeface="Malgun Gothic"/>
                <a:ea typeface="Malgun Gothic"/>
                <a:cs typeface="Malgun Gothic"/>
              </a:rPr>
              <a:t>이 함수를 이 인자로 불러 달라</a:t>
            </a:r>
          </a:p>
        </p:txBody>
      </p:sp>
      <p:sp>
        <p:nvSpPr>
          <p:cNvPr id="10" name="Oval 9"/>
          <p:cNvSpPr/>
          <p:nvPr/>
        </p:nvSpPr>
        <p:spPr>
          <a:xfrm>
            <a:off x="3611880" y="1828800"/>
            <a:ext cx="457200" cy="4572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600" b="1" i="0">
                <a:solidFill>
                  <a:srgbClr val="FFFFFF"/>
                </a:solidFill>
                <a:latin typeface="Malgun Gothic"/>
                <a:ea typeface="Malgun Gothic"/>
                <a:cs typeface="Malgun Gothic"/>
              </a:rPr>
              <a:t>2</a:t>
            </a:r>
          </a:p>
        </p:txBody>
      </p:sp>
      <p:sp>
        <p:nvSpPr>
          <p:cNvPr id="11" name="Right Arrow 10"/>
          <p:cNvSpPr/>
          <p:nvPr/>
        </p:nvSpPr>
        <p:spPr>
          <a:xfrm>
            <a:off x="5971032" y="2560320"/>
            <a:ext cx="256032"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2783" y="1691640"/>
            <a:ext cx="2514600" cy="2057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685800" bIns="201168"/>
          <a:lstStyle/>
          <a:p>
            <a:pPr algn="l">
              <a:spcAft>
                <a:spcPts val="800"/>
              </a:spcAft>
            </a:pPr>
            <a:r>
              <a:rPr sz="1800" b="1" i="0">
                <a:solidFill>
                  <a:srgbClr val="1F2A30"/>
                </a:solidFill>
                <a:latin typeface="Malgun Gothic"/>
                <a:ea typeface="Malgun Gothic"/>
                <a:cs typeface="Malgun Gothic"/>
              </a:rPr>
              <a:t>프로그램이 실행</a:t>
            </a:r>
          </a:p>
          <a:p>
            <a:pPr algn="l">
              <a:spcAft>
                <a:spcPts val="800"/>
              </a:spcAft>
            </a:pPr>
            <a:r>
              <a:rPr sz="1500" b="0" i="0">
                <a:solidFill>
                  <a:srgbClr val="5F6B73"/>
                </a:solidFill>
                <a:latin typeface="Malgun Gothic"/>
                <a:ea typeface="Malgun Gothic"/>
                <a:cs typeface="Malgun Gothic"/>
              </a:rPr>
              <a:t>단계 함수가 돌고 파일을 남긴다</a:t>
            </a:r>
          </a:p>
        </p:txBody>
      </p:sp>
      <p:sp>
        <p:nvSpPr>
          <p:cNvPr id="13" name="Oval 12"/>
          <p:cNvSpPr/>
          <p:nvPr/>
        </p:nvSpPr>
        <p:spPr>
          <a:xfrm>
            <a:off x="6473951" y="1828800"/>
            <a:ext cx="457200" cy="4572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600" b="1" i="0">
                <a:solidFill>
                  <a:srgbClr val="FFFFFF"/>
                </a:solidFill>
                <a:latin typeface="Malgun Gothic"/>
                <a:ea typeface="Malgun Gothic"/>
                <a:cs typeface="Malgun Gothic"/>
              </a:rPr>
              <a:t>3</a:t>
            </a:r>
          </a:p>
        </p:txBody>
      </p:sp>
      <p:sp>
        <p:nvSpPr>
          <p:cNvPr id="14" name="Right Arrow 13"/>
          <p:cNvSpPr/>
          <p:nvPr/>
        </p:nvSpPr>
        <p:spPr>
          <a:xfrm>
            <a:off x="8833104" y="2560320"/>
            <a:ext cx="256032"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34856" y="1691640"/>
            <a:ext cx="2514600" cy="2057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685800" bIns="201168"/>
          <a:lstStyle/>
          <a:p>
            <a:pPr algn="l">
              <a:spcAft>
                <a:spcPts val="800"/>
              </a:spcAft>
            </a:pPr>
            <a:r>
              <a:rPr sz="1800" b="1" i="0">
                <a:solidFill>
                  <a:srgbClr val="1F2A30"/>
                </a:solidFill>
                <a:latin typeface="Malgun Gothic"/>
                <a:ea typeface="Malgun Gothic"/>
                <a:cs typeface="Malgun Gothic"/>
              </a:rPr>
              <a:t>결과를 돌려준다</a:t>
            </a:r>
          </a:p>
          <a:p>
            <a:pPr algn="l">
              <a:spcAft>
                <a:spcPts val="800"/>
              </a:spcAft>
            </a:pPr>
            <a:r>
              <a:rPr sz="1500" b="0" i="0">
                <a:solidFill>
                  <a:srgbClr val="5F6B73"/>
                </a:solidFill>
                <a:latin typeface="Malgun Gothic"/>
                <a:ea typeface="Malgun Gothic"/>
                <a:cs typeface="Malgun Gothic"/>
              </a:rPr>
              <a:t>모델이 다음 도구를 고른다. 없으면 최종 답</a:t>
            </a:r>
          </a:p>
        </p:txBody>
      </p:sp>
      <p:sp>
        <p:nvSpPr>
          <p:cNvPr id="16" name="Oval 15"/>
          <p:cNvSpPr/>
          <p:nvPr/>
        </p:nvSpPr>
        <p:spPr>
          <a:xfrm>
            <a:off x="9336024" y="1828800"/>
            <a:ext cx="457200" cy="4572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600" b="1" i="0">
                <a:solidFill>
                  <a:srgbClr val="FFFFFF"/>
                </a:solidFill>
                <a:latin typeface="Malgun Gothic"/>
                <a:ea typeface="Malgun Gothic"/>
                <a:cs typeface="Malgun Gothic"/>
              </a:rPr>
              <a:t>4</a:t>
            </a:r>
          </a:p>
        </p:txBody>
      </p:sp>
      <p:sp>
        <p:nvSpPr>
          <p:cNvPr id="17" name="TextBox 16"/>
          <p:cNvSpPr txBox="1"/>
          <p:nvPr/>
        </p:nvSpPr>
        <p:spPr>
          <a:xfrm>
            <a:off x="548640" y="3886200"/>
            <a:ext cx="5394960" cy="320040"/>
          </a:xfrm>
          <a:prstGeom prst="rect">
            <a:avLst/>
          </a:prstGeom>
          <a:noFill/>
        </p:spPr>
        <p:txBody>
          <a:bodyPr wrap="square" lIns="0" rIns="0" tIns="0" bIns="0" anchor="t">
            <a:spAutoFit/>
          </a:bodyPr>
          <a:lstStyle/>
          <a:p>
            <a:pPr algn="l">
              <a:spcAft>
                <a:spcPts val="600"/>
              </a:spcAft>
            </a:pPr>
            <a:r>
              <a:rPr sz="1300" b="0" i="0">
                <a:solidFill>
                  <a:srgbClr val="5F6B73"/>
                </a:solidFill>
                <a:latin typeface="Malgun Gothic"/>
                <a:ea typeface="Malgun Gothic"/>
                <a:cs typeface="Malgun Gothic"/>
              </a:rPr>
              <a:t>프로그램이 보내는 도구 정의</a:t>
            </a:r>
          </a:p>
        </p:txBody>
      </p:sp>
      <p:sp>
        <p:nvSpPr>
          <p:cNvPr id="18" name="Rounded Rectangle 17"/>
          <p:cNvSpPr/>
          <p:nvPr/>
        </p:nvSpPr>
        <p:spPr>
          <a:xfrm>
            <a:off x="548640" y="4206240"/>
            <a:ext cx="5394960" cy="1920240"/>
          </a:xfrm>
          <a:prstGeom prst="roundRect">
            <a:avLst>
              <a:gd name="adj" fmla="val 3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200"/>
              </a:spcAft>
            </a:pPr>
            <a:r>
              <a:rPr sz="1100" b="0" i="0">
                <a:solidFill>
                  <a:srgbClr val="E6EDF0"/>
                </a:solidFill>
                <a:latin typeface="Consolas"/>
                <a:ea typeface="Consolas"/>
                <a:cs typeface="Consolas"/>
              </a:rPr>
              <a:t>{"name": "run_view_labels",</a:t>
            </a:r>
          </a:p>
          <a:p>
            <a:pPr algn="l">
              <a:spcAft>
                <a:spcPts val="200"/>
              </a:spcAft>
            </a:pPr>
            <a:r>
              <a:rPr sz="1100" b="0" i="0">
                <a:solidFill>
                  <a:srgbClr val="E6EDF0"/>
                </a:solidFill>
                <a:latin typeface="Consolas"/>
                <a:ea typeface="Consolas"/>
                <a:cs typeface="Consolas"/>
              </a:rPr>
              <a:t> "description": "Stage 06 view_labels: name every</a:t>
            </a:r>
          </a:p>
          <a:p>
            <a:pPr algn="l">
              <a:spcAft>
                <a:spcPts val="200"/>
              </a:spcAft>
            </a:pPr>
            <a:r>
              <a:rPr sz="1100" b="0" i="0">
                <a:solidFill>
                  <a:srgbClr val="E6EDF0"/>
                </a:solidFill>
                <a:latin typeface="Consolas"/>
                <a:ea typeface="Consolas"/>
                <a:cs typeface="Consolas"/>
              </a:rPr>
              <a:t>   view cluster. Model: reasoning ...",</a:t>
            </a:r>
          </a:p>
          <a:p>
            <a:pPr algn="l">
              <a:spcAft>
                <a:spcPts val="200"/>
              </a:spcAft>
            </a:pPr>
            <a:r>
              <a:rPr sz="1100" b="0" i="0">
                <a:solidFill>
                  <a:srgbClr val="E6EDF0"/>
                </a:solidFill>
                <a:latin typeface="Consolas"/>
                <a:ea typeface="Consolas"/>
                <a:cs typeface="Consolas"/>
              </a:rPr>
              <a:t> "parameters": {"type": "object", "properties": {</a:t>
            </a:r>
          </a:p>
          <a:p>
            <a:pPr algn="l">
              <a:spcAft>
                <a:spcPts val="200"/>
              </a:spcAft>
            </a:pPr>
            <a:r>
              <a:rPr sz="1100" b="0" i="0">
                <a:solidFill>
                  <a:srgbClr val="E6EDF0"/>
                </a:solidFill>
                <a:latin typeface="Consolas"/>
                <a:ea typeface="Consolas"/>
                <a:cs typeface="Consolas"/>
              </a:rPr>
              <a:t>   "work": {"type": "string"},</a:t>
            </a:r>
          </a:p>
          <a:p>
            <a:pPr algn="l">
              <a:spcAft>
                <a:spcPts val="200"/>
              </a:spcAft>
            </a:pPr>
            <a:r>
              <a:rPr sz="1100" b="0" i="0">
                <a:solidFill>
                  <a:srgbClr val="E6EDF0"/>
                </a:solidFill>
                <a:latin typeface="Consolas"/>
                <a:ea typeface="Consolas"/>
                <a:cs typeface="Consolas"/>
              </a:rPr>
              <a:t>   "projection_default": {"enum": ["first", "third"]}}}}</a:t>
            </a:r>
          </a:p>
        </p:txBody>
      </p:sp>
      <p:sp>
        <p:nvSpPr>
          <p:cNvPr id="19" name="TextBox 18"/>
          <p:cNvSpPr txBox="1"/>
          <p:nvPr/>
        </p:nvSpPr>
        <p:spPr>
          <a:xfrm>
            <a:off x="6217920" y="3886200"/>
            <a:ext cx="5394960" cy="320040"/>
          </a:xfrm>
          <a:prstGeom prst="rect">
            <a:avLst/>
          </a:prstGeom>
          <a:noFill/>
        </p:spPr>
        <p:txBody>
          <a:bodyPr wrap="square" lIns="0" rIns="0" tIns="0" bIns="0" anchor="t">
            <a:spAutoFit/>
          </a:bodyPr>
          <a:lstStyle/>
          <a:p>
            <a:pPr algn="l">
              <a:spcAft>
                <a:spcPts val="600"/>
              </a:spcAft>
            </a:pPr>
            <a:r>
              <a:rPr sz="1300" b="0" i="0">
                <a:solidFill>
                  <a:srgbClr val="5F6B73"/>
                </a:solidFill>
                <a:latin typeface="Malgun Gothic"/>
                <a:ea typeface="Malgun Gothic"/>
                <a:cs typeface="Malgun Gothic"/>
              </a:rPr>
              <a:t>모델이 돌려주는 요청</a:t>
            </a:r>
          </a:p>
        </p:txBody>
      </p:sp>
      <p:sp>
        <p:nvSpPr>
          <p:cNvPr id="20" name="Rounded Rectangle 19"/>
          <p:cNvSpPr/>
          <p:nvPr/>
        </p:nvSpPr>
        <p:spPr>
          <a:xfrm>
            <a:off x="6217920" y="4206240"/>
            <a:ext cx="5425135" cy="1920240"/>
          </a:xfrm>
          <a:prstGeom prst="roundRect">
            <a:avLst>
              <a:gd name="adj" fmla="val 3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200"/>
              </a:spcAft>
            </a:pPr>
            <a:r>
              <a:rPr sz="1100" b="0" i="0">
                <a:solidFill>
                  <a:srgbClr val="E6EDF0"/>
                </a:solidFill>
                <a:latin typeface="Consolas"/>
                <a:ea typeface="Consolas"/>
                <a:cs typeface="Consolas"/>
              </a:rPr>
              <a:t>{"tool_calls": [{"function": {</a:t>
            </a:r>
          </a:p>
          <a:p>
            <a:pPr algn="l">
              <a:spcAft>
                <a:spcPts val="200"/>
              </a:spcAft>
            </a:pPr>
            <a:r>
              <a:rPr sz="1100" b="0" i="0">
                <a:solidFill>
                  <a:srgbClr val="E6EDF0"/>
                </a:solidFill>
                <a:latin typeface="Consolas"/>
                <a:ea typeface="Consolas"/>
                <a:cs typeface="Consolas"/>
              </a:rPr>
              <a:t>   "name": "run_view_labels",</a:t>
            </a:r>
          </a:p>
          <a:p>
            <a:pPr algn="l">
              <a:spcAft>
                <a:spcPts val="200"/>
              </a:spcAft>
            </a:pPr>
            <a:r>
              <a:rPr sz="1100" b="0" i="0">
                <a:solidFill>
                  <a:srgbClr val="E6EDF0"/>
                </a:solidFill>
                <a:latin typeface="Consolas"/>
                <a:ea typeface="Consolas"/>
                <a:cs typeface="Consolas"/>
              </a:rPr>
              <a:t>   "arguments": {"work": "cone_0019",</a:t>
            </a:r>
          </a:p>
          <a:p>
            <a:pPr algn="l">
              <a:spcAft>
                <a:spcPts val="200"/>
              </a:spcAft>
            </a:pPr>
            <a:r>
              <a:rPr sz="1100" b="0" i="0">
                <a:solidFill>
                  <a:srgbClr val="E6EDF0"/>
                </a:solidFill>
                <a:latin typeface="Consolas"/>
                <a:ea typeface="Consolas"/>
                <a:cs typeface="Consolas"/>
              </a:rPr>
              <a:t>                 "projection_default": "third"}}}]}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Tool calling, MCP, Agent Skills</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셋은 다른 층의 이야기다. 로컬 orchestrator 에 필요한 것은 tool calling 이다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5</a:t>
            </a:r>
          </a:p>
        </p:txBody>
      </p:sp>
      <p:sp>
        <p:nvSpPr>
          <p:cNvPr id="6" name="Rounded Rectangle 5"/>
          <p:cNvSpPr/>
          <p:nvPr/>
        </p:nvSpPr>
        <p:spPr>
          <a:xfrm>
            <a:off x="548640" y="1691640"/>
            <a:ext cx="3566160" cy="3246120"/>
          </a:xfrm>
          <a:prstGeom prst="roundRect">
            <a:avLst>
              <a:gd name="adj" fmla="val 6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300"/>
              </a:spcAft>
            </a:pPr>
            <a:r>
              <a:rPr sz="2200" b="1" i="0">
                <a:solidFill>
                  <a:srgbClr val="2E6F73"/>
                </a:solidFill>
                <a:latin typeface="Malgun Gothic"/>
                <a:ea typeface="Malgun Gothic"/>
                <a:cs typeface="Malgun Gothic"/>
              </a:rPr>
              <a:t>Tool calling</a:t>
            </a:r>
          </a:p>
          <a:p>
            <a:pPr algn="l">
              <a:spcAft>
                <a:spcPts val="300"/>
              </a:spcAft>
            </a:pPr>
            <a:r>
              <a:rPr sz="1300" b="1" i="0">
                <a:solidFill>
                  <a:srgbClr val="5F6B73"/>
                </a:solidFill>
                <a:latin typeface="Malgun Gothic"/>
                <a:ea typeface="Malgun Gothic"/>
                <a:cs typeface="Malgun Gothic"/>
              </a:rPr>
              <a:t>무엇</a:t>
            </a:r>
          </a:p>
          <a:p>
            <a:pPr algn="l">
              <a:spcAft>
                <a:spcPts val="300"/>
              </a:spcAft>
            </a:pPr>
            <a:r>
              <a:rPr sz="1500" b="0" i="0">
                <a:solidFill>
                  <a:srgbClr val="1F2A30"/>
                </a:solidFill>
                <a:latin typeface="Malgun Gothic"/>
                <a:ea typeface="Malgun Gothic"/>
                <a:cs typeface="Malgun Gothic"/>
              </a:rPr>
              <a:t>모델이 '이 함수를 이 인자로' JSON 요청</a:t>
            </a:r>
          </a:p>
          <a:p>
            <a:pPr algn="l">
              <a:spcAft>
                <a:spcPts val="300"/>
              </a:spcAft>
            </a:pPr>
            <a:r>
              <a:rPr sz="1300" b="1" i="0">
                <a:solidFill>
                  <a:srgbClr val="5F6B73"/>
                </a:solidFill>
                <a:latin typeface="Malgun Gothic"/>
                <a:ea typeface="Malgun Gothic"/>
                <a:cs typeface="Malgun Gothic"/>
              </a:rPr>
              <a:t>어디서</a:t>
            </a:r>
          </a:p>
          <a:p>
            <a:pPr algn="l">
              <a:spcAft>
                <a:spcPts val="300"/>
              </a:spcAft>
            </a:pPr>
            <a:r>
              <a:rPr sz="1500" b="0" i="0">
                <a:solidFill>
                  <a:srgbClr val="1F2A30"/>
                </a:solidFill>
                <a:latin typeface="Malgun Gothic"/>
                <a:ea typeface="Malgun Gothic"/>
                <a:cs typeface="Malgun Gothic"/>
              </a:rPr>
              <a:t>우리 프로그램 안에서 함수 직접 호출</a:t>
            </a:r>
          </a:p>
          <a:p>
            <a:pPr algn="l">
              <a:spcAft>
                <a:spcPts val="300"/>
              </a:spcAft>
            </a:pPr>
            <a:r>
              <a:rPr sz="1300" b="1" i="0">
                <a:solidFill>
                  <a:srgbClr val="5F6B73"/>
                </a:solidFill>
                <a:latin typeface="Malgun Gothic"/>
                <a:ea typeface="Malgun Gothic"/>
                <a:cs typeface="Malgun Gothic"/>
              </a:rPr>
              <a:t>우리 프로젝트</a:t>
            </a:r>
          </a:p>
          <a:p>
            <a:pPr algn="l">
              <a:spcAft>
                <a:spcPts val="300"/>
              </a:spcAft>
            </a:pPr>
            <a:r>
              <a:rPr sz="1500" b="0" i="0">
                <a:solidFill>
                  <a:srgbClr val="1F2A30"/>
                </a:solidFill>
                <a:latin typeface="Malgun Gothic"/>
                <a:ea typeface="Malgun Gothic"/>
                <a:cs typeface="Malgun Gothic"/>
              </a:rPr>
              <a:t>로컬 orchestrator 의 핵심 → 이번에 구현</a:t>
            </a:r>
          </a:p>
        </p:txBody>
      </p:sp>
      <p:sp>
        <p:nvSpPr>
          <p:cNvPr id="7" name="Rounded Rectangle 6"/>
          <p:cNvSpPr/>
          <p:nvPr/>
        </p:nvSpPr>
        <p:spPr>
          <a:xfrm>
            <a:off x="4311396" y="1691640"/>
            <a:ext cx="3566160" cy="32461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300"/>
              </a:spcAft>
            </a:pPr>
            <a:r>
              <a:rPr sz="2200" b="1" i="0">
                <a:solidFill>
                  <a:srgbClr val="5F6B73"/>
                </a:solidFill>
                <a:latin typeface="Malgun Gothic"/>
                <a:ea typeface="Malgun Gothic"/>
                <a:cs typeface="Malgun Gothic"/>
              </a:rPr>
              <a:t>MCP</a:t>
            </a:r>
          </a:p>
          <a:p>
            <a:pPr algn="l">
              <a:spcAft>
                <a:spcPts val="300"/>
              </a:spcAft>
            </a:pPr>
            <a:r>
              <a:rPr sz="1300" b="1" i="0">
                <a:solidFill>
                  <a:srgbClr val="5F6B73"/>
                </a:solidFill>
                <a:latin typeface="Malgun Gothic"/>
                <a:ea typeface="Malgun Gothic"/>
                <a:cs typeface="Malgun Gothic"/>
              </a:rPr>
              <a:t>무엇</a:t>
            </a:r>
          </a:p>
          <a:p>
            <a:pPr algn="l">
              <a:spcAft>
                <a:spcPts val="300"/>
              </a:spcAft>
            </a:pPr>
            <a:r>
              <a:rPr sz="1500" b="0" i="0">
                <a:solidFill>
                  <a:srgbClr val="1F2A30"/>
                </a:solidFill>
                <a:latin typeface="Malgun Gothic"/>
                <a:ea typeface="Malgun Gothic"/>
                <a:cs typeface="Malgun Gothic"/>
              </a:rPr>
              <a:t>도구를 별도 서버로 떼어 여러 클라이언트가 공유 (JSON-RPC)</a:t>
            </a:r>
          </a:p>
          <a:p>
            <a:pPr algn="l">
              <a:spcAft>
                <a:spcPts val="300"/>
              </a:spcAft>
            </a:pPr>
            <a:r>
              <a:rPr sz="1300" b="1" i="0">
                <a:solidFill>
                  <a:srgbClr val="5F6B73"/>
                </a:solidFill>
                <a:latin typeface="Malgun Gothic"/>
                <a:ea typeface="Malgun Gothic"/>
                <a:cs typeface="Malgun Gothic"/>
              </a:rPr>
              <a:t>어디서</a:t>
            </a:r>
          </a:p>
          <a:p>
            <a:pPr algn="l">
              <a:spcAft>
                <a:spcPts val="300"/>
              </a:spcAft>
            </a:pPr>
            <a:r>
              <a:rPr sz="1500" b="0" i="0">
                <a:solidFill>
                  <a:srgbClr val="1F2A30"/>
                </a:solidFill>
                <a:latin typeface="Malgun Gothic"/>
                <a:ea typeface="Malgun Gothic"/>
                <a:cs typeface="Malgun Gothic"/>
              </a:rPr>
              <a:t>별도 서버 프로세스, host 가 tool calling 으로 변환</a:t>
            </a:r>
          </a:p>
          <a:p>
            <a:pPr algn="l">
              <a:spcAft>
                <a:spcPts val="300"/>
              </a:spcAft>
            </a:pPr>
            <a:r>
              <a:rPr sz="1300" b="1" i="0">
                <a:solidFill>
                  <a:srgbClr val="5F6B73"/>
                </a:solidFill>
                <a:latin typeface="Malgun Gothic"/>
                <a:ea typeface="Malgun Gothic"/>
                <a:cs typeface="Malgun Gothic"/>
              </a:rPr>
              <a:t>우리 프로젝트</a:t>
            </a:r>
          </a:p>
          <a:p>
            <a:pPr algn="l">
              <a:spcAft>
                <a:spcPts val="300"/>
              </a:spcAft>
            </a:pPr>
            <a:r>
              <a:rPr sz="1500" b="0" i="0">
                <a:solidFill>
                  <a:srgbClr val="1F2A30"/>
                </a:solidFill>
                <a:latin typeface="Malgun Gothic"/>
                <a:ea typeface="Malgun Gothic"/>
                <a:cs typeface="Malgun Gothic"/>
              </a:rPr>
              <a:t>도구를 쓰는 프로그램이 하나 → 지금은 불필요</a:t>
            </a:r>
          </a:p>
        </p:txBody>
      </p:sp>
      <p:sp>
        <p:nvSpPr>
          <p:cNvPr id="8" name="Rounded Rectangle 7"/>
          <p:cNvSpPr/>
          <p:nvPr/>
        </p:nvSpPr>
        <p:spPr>
          <a:xfrm>
            <a:off x="8074152" y="1691640"/>
            <a:ext cx="3566160" cy="32461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300"/>
              </a:spcAft>
            </a:pPr>
            <a:r>
              <a:rPr sz="2200" b="1" i="0">
                <a:solidFill>
                  <a:srgbClr val="5F6B73"/>
                </a:solidFill>
                <a:latin typeface="Malgun Gothic"/>
                <a:ea typeface="Malgun Gothic"/>
                <a:cs typeface="Malgun Gothic"/>
              </a:rPr>
              <a:t>Agent Skills</a:t>
            </a:r>
          </a:p>
          <a:p>
            <a:pPr algn="l">
              <a:spcAft>
                <a:spcPts val="300"/>
              </a:spcAft>
            </a:pPr>
            <a:r>
              <a:rPr sz="1300" b="1" i="0">
                <a:solidFill>
                  <a:srgbClr val="5F6B73"/>
                </a:solidFill>
                <a:latin typeface="Malgun Gothic"/>
                <a:ea typeface="Malgun Gothic"/>
                <a:cs typeface="Malgun Gothic"/>
              </a:rPr>
              <a:t>무엇</a:t>
            </a:r>
          </a:p>
          <a:p>
            <a:pPr algn="l">
              <a:spcAft>
                <a:spcPts val="300"/>
              </a:spcAft>
            </a:pPr>
            <a:r>
              <a:rPr sz="1500" b="0" i="0">
                <a:solidFill>
                  <a:srgbClr val="1F2A30"/>
                </a:solidFill>
                <a:latin typeface="Malgun Gothic"/>
                <a:ea typeface="Malgun Gothic"/>
                <a:cs typeface="Malgun Gothic"/>
              </a:rPr>
              <a:t>SKILL.md 지침 묶음, 모델이 필요할 때 골라 읽음</a:t>
            </a:r>
          </a:p>
          <a:p>
            <a:pPr algn="l">
              <a:spcAft>
                <a:spcPts val="300"/>
              </a:spcAft>
            </a:pPr>
            <a:r>
              <a:rPr sz="1300" b="1" i="0">
                <a:solidFill>
                  <a:srgbClr val="5F6B73"/>
                </a:solidFill>
                <a:latin typeface="Malgun Gothic"/>
                <a:ea typeface="Malgun Gothic"/>
                <a:cs typeface="Malgun Gothic"/>
              </a:rPr>
              <a:t>어디서</a:t>
            </a:r>
          </a:p>
          <a:p>
            <a:pPr algn="l">
              <a:spcAft>
                <a:spcPts val="300"/>
              </a:spcAft>
            </a:pPr>
            <a:r>
              <a:rPr sz="1500" b="0" i="0">
                <a:solidFill>
                  <a:srgbClr val="1F2A30"/>
                </a:solidFill>
                <a:latin typeface="Malgun Gothic"/>
                <a:ea typeface="Malgun Gothic"/>
                <a:cs typeface="Malgun Gothic"/>
              </a:rPr>
              <a:t>에이전트가 문서를 읽는다</a:t>
            </a:r>
          </a:p>
          <a:p>
            <a:pPr algn="l">
              <a:spcAft>
                <a:spcPts val="300"/>
              </a:spcAft>
            </a:pPr>
            <a:r>
              <a:rPr sz="1300" b="1" i="0">
                <a:solidFill>
                  <a:srgbClr val="5F6B73"/>
                </a:solidFill>
                <a:latin typeface="Malgun Gothic"/>
                <a:ea typeface="Malgun Gothic"/>
                <a:cs typeface="Malgun Gothic"/>
              </a:rPr>
              <a:t>우리 프로젝트</a:t>
            </a:r>
          </a:p>
          <a:p>
            <a:pPr algn="l">
              <a:spcAft>
                <a:spcPts val="300"/>
              </a:spcAft>
            </a:pPr>
            <a:r>
              <a:rPr sz="1500" b="0" i="0">
                <a:solidFill>
                  <a:srgbClr val="1F2A30"/>
                </a:solidFill>
                <a:latin typeface="Malgun Gothic"/>
                <a:ea typeface="Malgun Gothic"/>
                <a:cs typeface="Malgun Gothic"/>
              </a:rPr>
              <a:t>skills/ 는 코드가 단계별로 골라 넣는다 (다른 것)</a:t>
            </a:r>
          </a:p>
        </p:txBody>
      </p:sp>
      <p:sp>
        <p:nvSpPr>
          <p:cNvPr id="9" name="Rounded Rectangle 8"/>
          <p:cNvSpPr/>
          <p:nvPr/>
        </p:nvSpPr>
        <p:spPr>
          <a:xfrm>
            <a:off x="548640" y="5120640"/>
            <a:ext cx="11094415" cy="96012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600" b="1" i="0">
                <a:solidFill>
                  <a:srgbClr val="E8743B"/>
                </a:solidFill>
                <a:latin typeface="Malgun Gothic"/>
                <a:ea typeface="Malgun Gothic"/>
                <a:cs typeface="Malgun Gothic"/>
              </a:rPr>
              <a:t>판정  </a:t>
            </a:r>
            <a:r>
              <a:rPr sz="1600" b="0" i="0">
                <a:solidFill>
                  <a:srgbClr val="1F2A30"/>
                </a:solidFill>
                <a:latin typeface="Malgun Gothic"/>
                <a:ea typeface="Malgun Gothic"/>
                <a:cs typeface="Malgun Gothic"/>
              </a:rPr>
              <a:t>tool calling 으로 충분하다. MCP 는 Claude Code 같은 다른 클라이언트도 같은 단계를 써야 할 때 — 이미 만든 tool 목록을 감싸면 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만든 것: 판독 orchestrator</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단계 함수는 그대로 두고, 그 위에 '순서를 정하는 모델'만 얹었다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6</a:t>
            </a:r>
          </a:p>
        </p:txBody>
      </p:sp>
      <p:sp>
        <p:nvSpPr>
          <p:cNvPr id="6" name="Rounded Rectangle 5"/>
          <p:cNvSpPr/>
          <p:nvPr/>
        </p:nvSpPr>
        <p:spPr>
          <a:xfrm>
            <a:off x="548640" y="2788920"/>
            <a:ext cx="1737360" cy="118872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700" b="1" i="0">
                <a:solidFill>
                  <a:srgbClr val="1F2A30"/>
                </a:solidFill>
                <a:latin typeface="Malgun Gothic"/>
                <a:ea typeface="Malgun Gothic"/>
                <a:cs typeface="Malgun Gothic"/>
              </a:rPr>
              <a:t>자연어 명령</a:t>
            </a:r>
          </a:p>
          <a:p>
            <a:pPr algn="l">
              <a:spcAft>
                <a:spcPts val="400"/>
              </a:spcAft>
            </a:pPr>
            <a:r>
              <a:rPr sz="1300" b="0" i="0">
                <a:solidFill>
                  <a:srgbClr val="5F6B73"/>
                </a:solidFill>
                <a:latin typeface="Malgun Gothic"/>
                <a:ea typeface="Malgun Gothic"/>
                <a:cs typeface="Malgun Gothic"/>
              </a:rPr>
              <a:t>"cone_0019 판독해줘"</a:t>
            </a:r>
          </a:p>
        </p:txBody>
      </p:sp>
      <p:sp>
        <p:nvSpPr>
          <p:cNvPr id="7" name="Right Arrow 6"/>
          <p:cNvSpPr/>
          <p:nvPr/>
        </p:nvSpPr>
        <p:spPr>
          <a:xfrm>
            <a:off x="2313432" y="3246120"/>
            <a:ext cx="320040" cy="274320"/>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59303" y="2788920"/>
            <a:ext cx="2057400" cy="1188720"/>
          </a:xfrm>
          <a:prstGeom prst="roundRect">
            <a:avLst>
              <a:gd name="adj" fmla="val 6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700" b="1" i="0">
                <a:solidFill>
                  <a:srgbClr val="1F2A30"/>
                </a:solidFill>
                <a:latin typeface="Malgun Gothic"/>
                <a:ea typeface="Malgun Gothic"/>
                <a:cs typeface="Malgun Gothic"/>
              </a:rPr>
              <a:t>orchestrator</a:t>
            </a:r>
          </a:p>
          <a:p>
            <a:pPr algn="l">
              <a:spcAft>
                <a:spcPts val="400"/>
              </a:spcAft>
            </a:pPr>
            <a:r>
              <a:rPr sz="1300" b="0" i="0">
                <a:solidFill>
                  <a:srgbClr val="5F6B73"/>
                </a:solidFill>
                <a:latin typeface="Malgun Gothic"/>
                <a:ea typeface="Malgun Gothic"/>
                <a:cs typeface="Malgun Gothic"/>
              </a:rPr>
              <a:t>루프 · orchestrator.py</a:t>
            </a:r>
          </a:p>
        </p:txBody>
      </p:sp>
      <p:sp>
        <p:nvSpPr>
          <p:cNvPr id="9" name="Left-Right Arrow 8"/>
          <p:cNvSpPr/>
          <p:nvPr/>
        </p:nvSpPr>
        <p:spPr>
          <a:xfrm>
            <a:off x="4744135" y="3246120"/>
            <a:ext cx="320040" cy="274320"/>
          </a:xfrm>
          <a:prstGeom prst="lef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90007" y="2788920"/>
            <a:ext cx="1828800"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700" b="1" i="0">
                <a:solidFill>
                  <a:srgbClr val="1F2A30"/>
                </a:solidFill>
                <a:latin typeface="Malgun Gothic"/>
                <a:ea typeface="Malgun Gothic"/>
                <a:cs typeface="Malgun Gothic"/>
              </a:rPr>
              <a:t>tool 17개</a:t>
            </a:r>
          </a:p>
          <a:p>
            <a:pPr algn="l">
              <a:spcAft>
                <a:spcPts val="400"/>
              </a:spcAft>
            </a:pPr>
            <a:r>
              <a:rPr sz="1300" b="0" i="0">
                <a:solidFill>
                  <a:srgbClr val="5F6B73"/>
                </a:solidFill>
                <a:latin typeface="Malgun Gothic"/>
                <a:ea typeface="Malgun Gothic"/>
                <a:cs typeface="Malgun Gothic"/>
              </a:rPr>
              <a:t>tools.py</a:t>
            </a:r>
          </a:p>
        </p:txBody>
      </p:sp>
      <p:sp>
        <p:nvSpPr>
          <p:cNvPr id="11" name="Right Arrow 10"/>
          <p:cNvSpPr/>
          <p:nvPr/>
        </p:nvSpPr>
        <p:spPr>
          <a:xfrm>
            <a:off x="6946239" y="3246120"/>
            <a:ext cx="320040" cy="274320"/>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92111" y="2788920"/>
            <a:ext cx="2057400"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700" b="1" i="0">
                <a:solidFill>
                  <a:srgbClr val="1F2A30"/>
                </a:solidFill>
                <a:latin typeface="Malgun Gothic"/>
                <a:ea typeface="Malgun Gothic"/>
                <a:cs typeface="Malgun Gothic"/>
              </a:rPr>
              <a:t>판독 단계 13개</a:t>
            </a:r>
          </a:p>
          <a:p>
            <a:pPr algn="l">
              <a:spcAft>
                <a:spcPts val="400"/>
              </a:spcAft>
            </a:pPr>
            <a:r>
              <a:rPr sz="1300" b="0" i="0">
                <a:solidFill>
                  <a:srgbClr val="5F6B73"/>
                </a:solidFill>
                <a:latin typeface="Malgun Gothic"/>
                <a:ea typeface="Malgun Gothic"/>
                <a:cs typeface="Malgun Gothic"/>
              </a:rPr>
              <a:t>stages/*.py 의 run()</a:t>
            </a:r>
          </a:p>
        </p:txBody>
      </p:sp>
      <p:sp>
        <p:nvSpPr>
          <p:cNvPr id="13" name="Right Arrow 12"/>
          <p:cNvSpPr/>
          <p:nvPr/>
        </p:nvSpPr>
        <p:spPr>
          <a:xfrm>
            <a:off x="9376943" y="3246120"/>
            <a:ext cx="320040" cy="274320"/>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22815" y="2788920"/>
            <a:ext cx="1920240"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700" b="1" i="0">
                <a:solidFill>
                  <a:srgbClr val="1F2A30"/>
                </a:solidFill>
                <a:latin typeface="Malgun Gothic"/>
                <a:ea typeface="Malgun Gothic"/>
                <a:cs typeface="Malgun Gothic"/>
              </a:rPr>
              <a:t>작업 폴더</a:t>
            </a:r>
          </a:p>
          <a:p>
            <a:pPr algn="l">
              <a:spcAft>
                <a:spcPts val="400"/>
              </a:spcAft>
            </a:pPr>
            <a:r>
              <a:rPr sz="1300" b="0" i="0">
                <a:solidFill>
                  <a:srgbClr val="5F6B73"/>
                </a:solidFill>
                <a:latin typeface="Malgun Gothic"/>
                <a:ea typeface="Malgun Gothic"/>
                <a:cs typeface="Malgun Gothic"/>
              </a:rPr>
              <a:t>stages/NN_*.json</a:t>
            </a:r>
          </a:p>
        </p:txBody>
      </p:sp>
      <p:sp>
        <p:nvSpPr>
          <p:cNvPr id="15" name="Rounded Rectangle 14"/>
          <p:cNvSpPr/>
          <p:nvPr/>
        </p:nvSpPr>
        <p:spPr>
          <a:xfrm>
            <a:off x="2659303" y="1600200"/>
            <a:ext cx="2057400" cy="73152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200"/>
              </a:spcAft>
            </a:pPr>
            <a:r>
              <a:rPr sz="1500" b="1" i="0">
                <a:solidFill>
                  <a:srgbClr val="1F2A30"/>
                </a:solidFill>
                <a:latin typeface="Malgun Gothic"/>
                <a:ea typeface="Malgun Gothic"/>
                <a:cs typeface="Malgun Gothic"/>
              </a:rPr>
              <a:t>모델</a:t>
            </a:r>
          </a:p>
          <a:p>
            <a:pPr algn="l">
              <a:spcAft>
                <a:spcPts val="200"/>
              </a:spcAft>
            </a:pPr>
            <a:r>
              <a:rPr sz="1300" b="0" i="0">
                <a:solidFill>
                  <a:srgbClr val="5F6B73"/>
                </a:solidFill>
                <a:latin typeface="Malgun Gothic"/>
                <a:ea typeface="Malgun Gothic"/>
                <a:cs typeface="Malgun Gothic"/>
              </a:rPr>
              <a:t>Qwen3.6-27B 또는 Claude</a:t>
            </a:r>
          </a:p>
        </p:txBody>
      </p:sp>
      <p:sp>
        <p:nvSpPr>
          <p:cNvPr id="16" name="Up-Down Arrow 15"/>
          <p:cNvSpPr/>
          <p:nvPr/>
        </p:nvSpPr>
        <p:spPr>
          <a:xfrm>
            <a:off x="3550843" y="2359152"/>
            <a:ext cx="274320" cy="402336"/>
          </a:xfrm>
          <a:prstGeom prst="upDown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wn Arrow 16"/>
          <p:cNvSpPr/>
          <p:nvPr/>
        </p:nvSpPr>
        <p:spPr>
          <a:xfrm>
            <a:off x="3550843" y="4005072"/>
            <a:ext cx="274320" cy="274320"/>
          </a:xfrm>
          <a:prstGeom prst="down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659303" y="4315968"/>
            <a:ext cx="2057400" cy="77724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200"/>
              </a:spcAft>
            </a:pPr>
            <a:r>
              <a:rPr sz="1500" b="1" i="0">
                <a:solidFill>
                  <a:srgbClr val="1F2A30"/>
                </a:solidFill>
                <a:latin typeface="Malgun Gothic"/>
                <a:ea typeface="Malgun Gothic"/>
                <a:cs typeface="Malgun Gothic"/>
              </a:rPr>
              <a:t>기록</a:t>
            </a:r>
          </a:p>
          <a:p>
            <a:pPr algn="l">
              <a:spcAft>
                <a:spcPts val="200"/>
              </a:spcAft>
            </a:pPr>
            <a:r>
              <a:rPr sz="1300" b="0" i="0">
                <a:solidFill>
                  <a:srgbClr val="5F6B73"/>
                </a:solidFill>
                <a:latin typeface="Malgun Gothic"/>
                <a:ea typeface="Malgun Gothic"/>
                <a:cs typeface="Malgun Gothic"/>
              </a:rPr>
              <a:t>trajectory.jsonl</a:t>
            </a:r>
          </a:p>
        </p:txBody>
      </p:sp>
      <p:sp>
        <p:nvSpPr>
          <p:cNvPr id="19" name="Rounded Rectangle 18"/>
          <p:cNvSpPr/>
          <p:nvPr/>
        </p:nvSpPr>
        <p:spPr>
          <a:xfrm>
            <a:off x="7292111" y="4315968"/>
            <a:ext cx="2057400" cy="77724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200"/>
              </a:spcAft>
            </a:pPr>
            <a:r>
              <a:rPr sz="1500" b="1" i="0">
                <a:solidFill>
                  <a:srgbClr val="1F2A30"/>
                </a:solidFill>
                <a:latin typeface="Malgun Gothic"/>
                <a:ea typeface="Malgun Gothic"/>
                <a:cs typeface="Malgun Gothic"/>
              </a:rPr>
              <a:t>단계 안의 모델</a:t>
            </a:r>
          </a:p>
          <a:p>
            <a:pPr algn="l">
              <a:spcAft>
                <a:spcPts val="200"/>
              </a:spcAft>
            </a:pPr>
            <a:r>
              <a:rPr sz="1300" b="0" i="0">
                <a:solidFill>
                  <a:srgbClr val="5F6B73"/>
                </a:solidFill>
                <a:latin typeface="Malgun Gothic"/>
                <a:ea typeface="Malgun Gothic"/>
                <a:cs typeface="Malgun Gothic"/>
              </a:rPr>
              <a:t>OCR · 추론, 기존 그대로</a:t>
            </a:r>
          </a:p>
        </p:txBody>
      </p:sp>
      <p:sp>
        <p:nvSpPr>
          <p:cNvPr id="20" name="TextBox 19"/>
          <p:cNvSpPr txBox="1"/>
          <p:nvPr/>
        </p:nvSpPr>
        <p:spPr>
          <a:xfrm>
            <a:off x="548640" y="5440680"/>
            <a:ext cx="11094415" cy="548640"/>
          </a:xfrm>
          <a:prstGeom prst="rect">
            <a:avLst/>
          </a:prstGeom>
          <a:noFill/>
        </p:spPr>
        <p:txBody>
          <a:bodyPr wrap="square" lIns="0" rIns="0" tIns="0" bIns="0" anchor="t">
            <a:spAutoFit/>
          </a:bodyPr>
          <a:lstStyle/>
          <a:p>
            <a:pPr algn="l">
              <a:spcAft>
                <a:spcPts val="600"/>
              </a:spcAft>
            </a:pPr>
            <a:r>
              <a:rPr sz="1500" b="1" i="0">
                <a:solidFill>
                  <a:srgbClr val="1F2A30"/>
                </a:solidFill>
                <a:latin typeface="Malgun Gothic"/>
                <a:ea typeface="Malgun Gothic"/>
                <a:cs typeface="Malgun Gothic"/>
              </a:rPr>
              <a:t>같은 단계 함수 → 같은 결과 파일.  </a:t>
            </a:r>
            <a:r>
              <a:rPr sz="1500" b="0" i="0">
                <a:solidFill>
                  <a:srgbClr val="5F6B73"/>
                </a:solidFill>
                <a:latin typeface="Malgun Gothic"/>
                <a:ea typeface="Malgun Gothic"/>
                <a:cs typeface="Malgun Gothic"/>
              </a:rPr>
              <a:t>고정 순서(run.py)와 다른 것은 '순서를 누가 정하나' 하나뿐이라 둘을 공정하게 비교할 수 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Tool 17개를 만든 원칙</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약한 모델도 실수하기 어렵게, 실수해도 루프가 멈추지 않게</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7</a:t>
            </a:r>
          </a:p>
        </p:txBody>
      </p:sp>
      <p:sp>
        <p:nvSpPr>
          <p:cNvPr id="6" name="Rounded Rectangle 5"/>
          <p:cNvSpPr/>
          <p:nvPr/>
        </p:nvSpPr>
        <p:spPr>
          <a:xfrm>
            <a:off x="548640" y="1691640"/>
            <a:ext cx="3657600" cy="201168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900" b="1" i="0">
                <a:solidFill>
                  <a:srgbClr val="2E6F73"/>
                </a:solidFill>
                <a:latin typeface="Malgun Gothic"/>
                <a:ea typeface="Malgun Gothic"/>
                <a:cs typeface="Malgun Gothic"/>
              </a:rPr>
              <a:t>결과는 작게</a:t>
            </a:r>
          </a:p>
          <a:p>
            <a:pPr algn="l">
              <a:spcAft>
                <a:spcPts val="800"/>
              </a:spcAft>
            </a:pPr>
            <a:r>
              <a:rPr sz="1500" b="0" i="0">
                <a:solidFill>
                  <a:srgbClr val="1F2A30"/>
                </a:solidFill>
                <a:latin typeface="Malgun Gothic"/>
                <a:ea typeface="Malgun Gothic"/>
                <a:cs typeface="Malgun Gothic"/>
              </a:rPr>
              <a:t>단계 파일 전체 대신 상태 · 요약 · 모델 호출 결과만. 01_read.json 은 DXF 엔티티 전부 → 결과는 1,000자 미만</a:t>
            </a:r>
          </a:p>
        </p:txBody>
      </p:sp>
      <p:sp>
        <p:nvSpPr>
          <p:cNvPr id="7" name="Rounded Rectangle 6"/>
          <p:cNvSpPr/>
          <p:nvPr/>
        </p:nvSpPr>
        <p:spPr>
          <a:xfrm>
            <a:off x="4434840" y="1691640"/>
            <a:ext cx="3657600" cy="201168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900" b="1" i="0">
                <a:solidFill>
                  <a:srgbClr val="2E6F73"/>
                </a:solidFill>
                <a:latin typeface="Malgun Gothic"/>
                <a:ea typeface="Malgun Gothic"/>
                <a:cs typeface="Malgun Gothic"/>
              </a:rPr>
              <a:t>오류도 결과로</a:t>
            </a:r>
          </a:p>
          <a:p>
            <a:pPr algn="l">
              <a:spcAft>
                <a:spcPts val="800"/>
              </a:spcAft>
            </a:pPr>
            <a:r>
              <a:rPr sz="1500" b="0" i="0">
                <a:solidFill>
                  <a:srgbClr val="1F2A30"/>
                </a:solidFill>
                <a:latin typeface="Malgun Gothic"/>
                <a:ea typeface="Malgun Gothic"/>
                <a:cs typeface="Malgun Gothic"/>
              </a:rPr>
              <a:t>없는 tool, 틀린 인자, 앞 단계 없음(not_ready), 단계 오류 → {"error": …}. 루프는 멈추지 않는다</a:t>
            </a:r>
          </a:p>
        </p:txBody>
      </p:sp>
      <p:sp>
        <p:nvSpPr>
          <p:cNvPr id="8" name="Rounded Rectangle 7"/>
          <p:cNvSpPr/>
          <p:nvPr/>
        </p:nvSpPr>
        <p:spPr>
          <a:xfrm>
            <a:off x="548640" y="3931920"/>
            <a:ext cx="3657600" cy="201168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900" b="1" i="0">
                <a:solidFill>
                  <a:srgbClr val="2E6F73"/>
                </a:solidFill>
                <a:latin typeface="Malgun Gothic"/>
                <a:ea typeface="Malgun Gothic"/>
                <a:cs typeface="Malgun Gothic"/>
              </a:rPr>
              <a:t>모델은 순서만</a:t>
            </a:r>
          </a:p>
          <a:p>
            <a:pPr algn="l">
              <a:spcAft>
                <a:spcPts val="800"/>
              </a:spcAft>
            </a:pPr>
            <a:r>
              <a:rPr sz="1500" b="0" i="0">
                <a:solidFill>
                  <a:srgbClr val="1F2A30"/>
                </a:solidFill>
                <a:latin typeface="Malgun Gothic"/>
                <a:ea typeface="Malgun Gothic"/>
                <a:cs typeface="Malgun Gothic"/>
              </a:rPr>
              <a:t>단계 안의 OCR · 추론 모델은 시작할 때 고정. orchestrator 는 단계와 옵션만 고른다</a:t>
            </a:r>
          </a:p>
        </p:txBody>
      </p:sp>
      <p:sp>
        <p:nvSpPr>
          <p:cNvPr id="9" name="Rounded Rectangle 8"/>
          <p:cNvSpPr/>
          <p:nvPr/>
        </p:nvSpPr>
        <p:spPr>
          <a:xfrm>
            <a:off x="4434840" y="3931920"/>
            <a:ext cx="3657600" cy="201168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1900" b="1" i="0">
                <a:solidFill>
                  <a:srgbClr val="2E6F73"/>
                </a:solidFill>
                <a:latin typeface="Malgun Gothic"/>
                <a:ea typeface="Malgun Gothic"/>
                <a:cs typeface="Malgun Gothic"/>
              </a:rPr>
              <a:t>작업 폴더 밖 금지</a:t>
            </a:r>
          </a:p>
          <a:p>
            <a:pPr algn="l">
              <a:spcAft>
                <a:spcPts val="800"/>
              </a:spcAft>
            </a:pPr>
            <a:r>
              <a:rPr sz="1500" b="0" i="0">
                <a:solidFill>
                  <a:srgbClr val="1F2A30"/>
                </a:solidFill>
                <a:latin typeface="Malgun Gothic"/>
                <a:ea typeface="Malgun Gothic"/>
                <a:cs typeface="Malgun Gothic"/>
              </a:rPr>
              <a:t>work 는 --output-dir 아래만. 'cone_0019' 처럼 짧게 써도 된다</a:t>
            </a:r>
          </a:p>
        </p:txBody>
      </p:sp>
      <p:sp>
        <p:nvSpPr>
          <p:cNvPr id="10" name="Rounded Rectangle 9"/>
          <p:cNvSpPr/>
          <p:nvPr/>
        </p:nvSpPr>
        <p:spPr>
          <a:xfrm>
            <a:off x="8321040" y="1691640"/>
            <a:ext cx="3322015" cy="4251960"/>
          </a:xfrm>
          <a:prstGeom prst="roundRect">
            <a:avLst>
              <a:gd name="adj" fmla="val 6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900" b="1" i="0">
                <a:solidFill>
                  <a:srgbClr val="2E6F73"/>
                </a:solidFill>
                <a:latin typeface="Malgun Gothic"/>
                <a:ea typeface="Malgun Gothic"/>
                <a:cs typeface="Malgun Gothic"/>
              </a:rPr>
              <a:t>tool 목록</a:t>
            </a:r>
          </a:p>
        </p:txBody>
      </p:sp>
      <p:sp>
        <p:nvSpPr>
          <p:cNvPr id="11" name="Rounded Rectangle 10"/>
          <p:cNvSpPr/>
          <p:nvPr/>
        </p:nvSpPr>
        <p:spPr>
          <a:xfrm>
            <a:off x="8549640" y="2377440"/>
            <a:ext cx="2864815" cy="38404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1F2A30"/>
                </a:solidFill>
                <a:latin typeface="Malgun Gothic"/>
                <a:ea typeface="Malgun Gothic"/>
                <a:cs typeface="Malgun Gothic"/>
              </a:rPr>
              <a:t>list_drawings</a:t>
            </a:r>
          </a:p>
        </p:txBody>
      </p:sp>
      <p:sp>
        <p:nvSpPr>
          <p:cNvPr id="12" name="TextBox 11"/>
          <p:cNvSpPr txBox="1"/>
          <p:nvPr/>
        </p:nvSpPr>
        <p:spPr>
          <a:xfrm>
            <a:off x="8595360" y="2770632"/>
            <a:ext cx="2773375" cy="274320"/>
          </a:xfrm>
          <a:prstGeom prst="rect">
            <a:avLst/>
          </a:prstGeom>
          <a:noFill/>
        </p:spPr>
        <p:txBody>
          <a:bodyPr wrap="square" lIns="0" rIns="0" tIns="0" bIns="0" anchor="t">
            <a:spAutoFit/>
          </a:bodyPr>
          <a:lstStyle/>
          <a:p>
            <a:pPr algn="l">
              <a:spcAft>
                <a:spcPts val="600"/>
              </a:spcAft>
            </a:pPr>
            <a:r>
              <a:rPr sz="1200" b="0" i="0">
                <a:solidFill>
                  <a:srgbClr val="5F6B73"/>
                </a:solidFill>
                <a:latin typeface="Malgun Gothic"/>
                <a:ea typeface="Malgun Gothic"/>
                <a:cs typeface="Malgun Gothic"/>
              </a:rPr>
              <a:t>도면과 작업 폴더</a:t>
            </a:r>
          </a:p>
        </p:txBody>
      </p:sp>
      <p:sp>
        <p:nvSpPr>
          <p:cNvPr id="13" name="Rounded Rectangle 12"/>
          <p:cNvSpPr/>
          <p:nvPr/>
        </p:nvSpPr>
        <p:spPr>
          <a:xfrm>
            <a:off x="8549640" y="3063240"/>
            <a:ext cx="2864815" cy="38404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1F2A30"/>
                </a:solidFill>
                <a:latin typeface="Malgun Gothic"/>
                <a:ea typeface="Malgun Gothic"/>
                <a:cs typeface="Malgun Gothic"/>
              </a:rPr>
              <a:t>stage_status</a:t>
            </a:r>
          </a:p>
        </p:txBody>
      </p:sp>
      <p:sp>
        <p:nvSpPr>
          <p:cNvPr id="14" name="TextBox 13"/>
          <p:cNvSpPr txBox="1"/>
          <p:nvPr/>
        </p:nvSpPr>
        <p:spPr>
          <a:xfrm>
            <a:off x="8595360" y="3456432"/>
            <a:ext cx="2773375" cy="274320"/>
          </a:xfrm>
          <a:prstGeom prst="rect">
            <a:avLst/>
          </a:prstGeom>
          <a:noFill/>
        </p:spPr>
        <p:txBody>
          <a:bodyPr wrap="square" lIns="0" rIns="0" tIns="0" bIns="0" anchor="t">
            <a:spAutoFit/>
          </a:bodyPr>
          <a:lstStyle/>
          <a:p>
            <a:pPr algn="l">
              <a:spcAft>
                <a:spcPts val="600"/>
              </a:spcAft>
            </a:pPr>
            <a:r>
              <a:rPr sz="1200" b="0" i="0">
                <a:solidFill>
                  <a:srgbClr val="5F6B73"/>
                </a:solidFill>
                <a:latin typeface="Malgun Gothic"/>
                <a:ea typeface="Malgun Gothic"/>
                <a:cs typeface="Malgun Gothic"/>
              </a:rPr>
              <a:t>13단계 상태</a:t>
            </a:r>
          </a:p>
        </p:txBody>
      </p:sp>
      <p:sp>
        <p:nvSpPr>
          <p:cNvPr id="15" name="Rounded Rectangle 14"/>
          <p:cNvSpPr/>
          <p:nvPr/>
        </p:nvSpPr>
        <p:spPr>
          <a:xfrm>
            <a:off x="8549640" y="3749039"/>
            <a:ext cx="2864815" cy="38404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1F2A30"/>
                </a:solidFill>
                <a:latin typeface="Malgun Gothic"/>
                <a:ea typeface="Malgun Gothic"/>
                <a:cs typeface="Malgun Gothic"/>
              </a:rPr>
              <a:t>show_stage</a:t>
            </a:r>
          </a:p>
        </p:txBody>
      </p:sp>
      <p:sp>
        <p:nvSpPr>
          <p:cNvPr id="16" name="TextBox 15"/>
          <p:cNvSpPr txBox="1"/>
          <p:nvPr/>
        </p:nvSpPr>
        <p:spPr>
          <a:xfrm>
            <a:off x="8595360" y="4142231"/>
            <a:ext cx="2773375" cy="274320"/>
          </a:xfrm>
          <a:prstGeom prst="rect">
            <a:avLst/>
          </a:prstGeom>
          <a:noFill/>
        </p:spPr>
        <p:txBody>
          <a:bodyPr wrap="square" lIns="0" rIns="0" tIns="0" bIns="0" anchor="t">
            <a:spAutoFit/>
          </a:bodyPr>
          <a:lstStyle/>
          <a:p>
            <a:pPr algn="l">
              <a:spcAft>
                <a:spcPts val="600"/>
              </a:spcAft>
            </a:pPr>
            <a:r>
              <a:rPr sz="1200" b="0" i="0">
                <a:solidFill>
                  <a:srgbClr val="5F6B73"/>
                </a:solidFill>
                <a:latin typeface="Malgun Gothic"/>
                <a:ea typeface="Malgun Gothic"/>
                <a:cs typeface="Malgun Gothic"/>
              </a:rPr>
              <a:t>요약 · review · 모델 원문</a:t>
            </a:r>
          </a:p>
        </p:txBody>
      </p:sp>
      <p:sp>
        <p:nvSpPr>
          <p:cNvPr id="17" name="Rounded Rectangle 16"/>
          <p:cNvSpPr/>
          <p:nvPr/>
        </p:nvSpPr>
        <p:spPr>
          <a:xfrm>
            <a:off x="8549640" y="4434840"/>
            <a:ext cx="2864815" cy="384048"/>
          </a:xfrm>
          <a:prstGeom prst="roundRect">
            <a:avLst>
              <a:gd name="adj" fmla="val 15000"/>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FFFFFF"/>
                </a:solidFill>
                <a:latin typeface="Malgun Gothic"/>
                <a:ea typeface="Malgun Gothic"/>
                <a:cs typeface="Malgun Gothic"/>
              </a:rPr>
              <a:t>run_&lt;단계&gt; × 13</a:t>
            </a:r>
          </a:p>
        </p:txBody>
      </p:sp>
      <p:sp>
        <p:nvSpPr>
          <p:cNvPr id="18" name="TextBox 17"/>
          <p:cNvSpPr txBox="1"/>
          <p:nvPr/>
        </p:nvSpPr>
        <p:spPr>
          <a:xfrm>
            <a:off x="8595360" y="4828031"/>
            <a:ext cx="2773375" cy="274320"/>
          </a:xfrm>
          <a:prstGeom prst="rect">
            <a:avLst/>
          </a:prstGeom>
          <a:noFill/>
        </p:spPr>
        <p:txBody>
          <a:bodyPr wrap="square" lIns="0" rIns="0" tIns="0" bIns="0" anchor="t">
            <a:spAutoFit/>
          </a:bodyPr>
          <a:lstStyle/>
          <a:p>
            <a:pPr algn="l">
              <a:spcAft>
                <a:spcPts val="600"/>
              </a:spcAft>
            </a:pPr>
            <a:r>
              <a:rPr sz="1200" b="0" i="0">
                <a:solidFill>
                  <a:srgbClr val="5F6B73"/>
                </a:solidFill>
                <a:latin typeface="Malgun Gothic"/>
                <a:ea typeface="Malgun Gothic"/>
                <a:cs typeface="Malgun Gothic"/>
              </a:rPr>
              <a:t>단계 하나</a:t>
            </a:r>
          </a:p>
        </p:txBody>
      </p:sp>
      <p:sp>
        <p:nvSpPr>
          <p:cNvPr id="19" name="Rounded Rectangle 18"/>
          <p:cNvSpPr/>
          <p:nvPr/>
        </p:nvSpPr>
        <p:spPr>
          <a:xfrm>
            <a:off x="8549640" y="5120640"/>
            <a:ext cx="2864815" cy="38404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400" b="1" i="0">
                <a:solidFill>
                  <a:srgbClr val="1F2A30"/>
                </a:solidFill>
                <a:latin typeface="Malgun Gothic"/>
                <a:ea typeface="Malgun Gothic"/>
                <a:cs typeface="Malgun Gothic"/>
              </a:rPr>
              <a:t>run_stages</a:t>
            </a:r>
          </a:p>
        </p:txBody>
      </p:sp>
      <p:sp>
        <p:nvSpPr>
          <p:cNvPr id="20" name="TextBox 19"/>
          <p:cNvSpPr txBox="1"/>
          <p:nvPr/>
        </p:nvSpPr>
        <p:spPr>
          <a:xfrm>
            <a:off x="8595360" y="5513831"/>
            <a:ext cx="2773375" cy="274320"/>
          </a:xfrm>
          <a:prstGeom prst="rect">
            <a:avLst/>
          </a:prstGeom>
          <a:noFill/>
        </p:spPr>
        <p:txBody>
          <a:bodyPr wrap="square" lIns="0" rIns="0" tIns="0" bIns="0" anchor="t">
            <a:spAutoFit/>
          </a:bodyPr>
          <a:lstStyle/>
          <a:p>
            <a:pPr algn="l">
              <a:spcAft>
                <a:spcPts val="600"/>
              </a:spcAft>
            </a:pPr>
            <a:r>
              <a:rPr sz="1200" b="0" i="0">
                <a:solidFill>
                  <a:srgbClr val="5F6B73"/>
                </a:solidFill>
                <a:latin typeface="Malgun Gothic"/>
                <a:ea typeface="Malgun Gothic"/>
                <a:cs typeface="Malgun Gothic"/>
              </a:rPr>
              <a:t>여러 단계를 차례로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Tool을 부르는 세 가지 방식</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같은 루프에 모델 호출 방식만 바꿔 끼운다. 로컬과 Claude 를 같은 조건에서 비교하기 위해서다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8</a:t>
            </a:r>
          </a:p>
        </p:txBody>
      </p:sp>
      <p:graphicFrame>
        <p:nvGraphicFramePr>
          <p:cNvPr id="6" name="Table 5"/>
          <p:cNvGraphicFramePr>
            <a:graphicFrameLocks noGrp="1"/>
          </p:cNvGraphicFramePr>
          <p:nvPr/>
        </p:nvGraphicFramePr>
        <p:xfrm>
          <a:off x="548640" y="1691640"/>
          <a:ext cx="11094415" cy="2377440"/>
        </p:xfrm>
        <a:graphic>
          <a:graphicData uri="http://schemas.openxmlformats.org/drawingml/2006/table">
            <a:tbl>
              <a:tblPr firstRow="1" bandRow="1">
                <a:tableStyleId>{5C22544A-7EE6-4342-B048-85BDC9FD1C3A}</a:tableStyleId>
              </a:tblPr>
              <a:tblGrid>
                <a:gridCol w="1554480"/>
                <a:gridCol w="4114800"/>
                <a:gridCol w="3291840"/>
                <a:gridCol w="2133295"/>
              </a:tblGrid>
              <a:tr h="594360">
                <a:tc>
                  <a:txBody>
                    <a:bodyPr wrap="square" tIns="91440" bIns="91440" anchor="t"/>
                    <a:lstStyle/>
                    <a:p>
                      <a:pPr algn="l">
                        <a:spcAft>
                          <a:spcPts val="0"/>
                        </a:spcAft>
                      </a:pPr>
                      <a:r>
                        <a:rPr sz="1400" b="1" i="0">
                          <a:solidFill>
                            <a:srgbClr val="FFFFFF"/>
                          </a:solidFill>
                          <a:latin typeface="Malgun Gothic"/>
                          <a:ea typeface="Malgun Gothic"/>
                          <a:cs typeface="Malgun Gothic"/>
                        </a:rPr>
                        <a:t>방식</a:t>
                      </a:r>
                    </a:p>
                  </a:txBody>
                  <a:tcPr anchor="ctr">
                    <a:solidFill>
                      <a:srgbClr val="1F2A30"/>
                    </a:solidFill>
                  </a:tcPr>
                </a:tc>
                <a:tc>
                  <a:txBody>
                    <a:bodyPr wrap="square" tIns="91440" bIns="91440" anchor="t"/>
                    <a:lstStyle/>
                    <a:p>
                      <a:pPr algn="l">
                        <a:spcAft>
                          <a:spcPts val="0"/>
                        </a:spcAft>
                      </a:pPr>
                      <a:r>
                        <a:rPr sz="1400" b="1" i="0">
                          <a:solidFill>
                            <a:srgbClr val="FFFFFF"/>
                          </a:solidFill>
                          <a:latin typeface="Malgun Gothic"/>
                          <a:ea typeface="Malgun Gothic"/>
                          <a:cs typeface="Malgun Gothic"/>
                        </a:rPr>
                        <a:t>모델이 tool 을 부르는 법</a:t>
                      </a:r>
                    </a:p>
                  </a:txBody>
                  <a:tcPr anchor="ctr">
                    <a:solidFill>
                      <a:srgbClr val="1F2A30"/>
                    </a:solidFill>
                  </a:tcPr>
                </a:tc>
                <a:tc>
                  <a:txBody>
                    <a:bodyPr wrap="square" tIns="91440" bIns="91440" anchor="t"/>
                    <a:lstStyle/>
                    <a:p>
                      <a:pPr algn="l">
                        <a:spcAft>
                          <a:spcPts val="0"/>
                        </a:spcAft>
                      </a:pPr>
                      <a:r>
                        <a:rPr sz="1400" b="1" i="0">
                          <a:solidFill>
                            <a:srgbClr val="FFFFFF"/>
                          </a:solidFill>
                          <a:latin typeface="Malgun Gothic"/>
                          <a:ea typeface="Malgun Gothic"/>
                          <a:cs typeface="Malgun Gothic"/>
                        </a:rPr>
                        <a:t>서버 조건</a:t>
                      </a:r>
                    </a:p>
                  </a:txBody>
                  <a:tcPr anchor="ctr">
                    <a:solidFill>
                      <a:srgbClr val="1F2A30"/>
                    </a:solidFill>
                  </a:tcPr>
                </a:tc>
                <a:tc>
                  <a:txBody>
                    <a:bodyPr wrap="square" tIns="91440" bIns="91440" anchor="t"/>
                    <a:lstStyle/>
                    <a:p>
                      <a:pPr algn="l">
                        <a:spcAft>
                          <a:spcPts val="0"/>
                        </a:spcAft>
                      </a:pPr>
                      <a:r>
                        <a:rPr sz="1400" b="1" i="0">
                          <a:solidFill>
                            <a:srgbClr val="FFFFFF"/>
                          </a:solidFill>
                          <a:latin typeface="Malgun Gothic"/>
                          <a:ea typeface="Malgun Gothic"/>
                          <a:cs typeface="Malgun Gothic"/>
                        </a:rPr>
                        <a:t>상태</a:t>
                      </a:r>
                    </a:p>
                  </a:txBody>
                  <a:tcPr anchor="ctr">
                    <a:solidFill>
                      <a:srgbClr val="1F2A30"/>
                    </a:solidFill>
                  </a:tcPr>
                </a:tc>
              </a:tr>
              <a:tr h="594360">
                <a:tc>
                  <a:txBody>
                    <a:bodyPr wrap="square" tIns="91440" bIns="91440" anchor="t"/>
                    <a:lstStyle/>
                    <a:p>
                      <a:pPr algn="l">
                        <a:spcAft>
                          <a:spcPts val="0"/>
                        </a:spcAft>
                      </a:pPr>
                      <a:r>
                        <a:rPr sz="1400" b="1" i="0">
                          <a:solidFill>
                            <a:srgbClr val="1F2A30"/>
                          </a:solidFill>
                          <a:latin typeface="Malgun Gothic"/>
                          <a:ea typeface="Malgun Gothic"/>
                          <a:cs typeface="Malgun Gothic"/>
                        </a:rPr>
                        <a:t>native</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OpenAI 호환 tools → tool_calls</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vLLM --enable-auto-tool-choice</a:t>
                      </a:r>
                    </a:p>
                    <a:p>
                      <a:pPr algn="l">
                        <a:spcAft>
                          <a:spcPts val="0"/>
                        </a:spcAft>
                      </a:pPr>
                      <a:r>
                        <a:rPr sz="1400" b="0" i="0">
                          <a:solidFill>
                            <a:srgbClr val="1F2A30"/>
                          </a:solidFill>
                          <a:latin typeface="Malgun Gothic"/>
                          <a:ea typeface="Malgun Gothic"/>
                          <a:cs typeface="Malgun Gothic"/>
                        </a:rPr>
                        <a:t>--tool-call-parser</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서버 재기동 필요</a:t>
                      </a:r>
                    </a:p>
                    <a:p>
                      <a:pPr algn="l">
                        <a:spcAft>
                          <a:spcPts val="0"/>
                        </a:spcAft>
                      </a:pPr>
                      <a:r>
                        <a:rPr sz="1400" b="0" i="0">
                          <a:solidFill>
                            <a:srgbClr val="1F2A30"/>
                          </a:solidFill>
                          <a:latin typeface="Malgun Gothic"/>
                          <a:ea typeface="Malgun Gothic"/>
                          <a:cs typeface="Malgun Gothic"/>
                        </a:rPr>
                        <a:t>(지금은 400)</a:t>
                      </a:r>
                    </a:p>
                  </a:txBody>
                  <a:tcPr anchor="ctr">
                    <a:solidFill>
                      <a:srgbClr val="EEF3F4"/>
                    </a:solidFill>
                  </a:tcPr>
                </a:tc>
              </a:tr>
              <a:tr h="594360">
                <a:tc>
                  <a:txBody>
                    <a:bodyPr wrap="square" tIns="91440" bIns="91440" anchor="t"/>
                    <a:lstStyle/>
                    <a:p>
                      <a:pPr algn="l">
                        <a:spcAft>
                          <a:spcPts val="0"/>
                        </a:spcAft>
                      </a:pPr>
                      <a:r>
                        <a:rPr sz="1400" b="1" i="0">
                          <a:solidFill>
                            <a:srgbClr val="1F2A30"/>
                          </a:solidFill>
                          <a:latin typeface="Malgun Gothic"/>
                          <a:ea typeface="Malgun Gothic"/>
                          <a:cs typeface="Malgun Gothic"/>
                        </a:rPr>
                        <a:t>schema</a:t>
                      </a:r>
                    </a:p>
                  </a:txBody>
                  <a:tcPr anchor="ctr">
                    <a:solidFill>
                      <a:srgbClr val="DCEBEC"/>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응답마다 {thought, tool, arguments}</a:t>
                      </a:r>
                    </a:p>
                    <a:p>
                      <a:pPr algn="l">
                        <a:spcAft>
                          <a:spcPts val="0"/>
                        </a:spcAft>
                      </a:pPr>
                      <a:r>
                        <a:rPr sz="1400" b="0" i="0">
                          <a:solidFill>
                            <a:srgbClr val="1F2A30"/>
                          </a:solidFill>
                          <a:latin typeface="Malgun Gothic"/>
                          <a:ea typeface="Malgun Gothic"/>
                          <a:cs typeface="Malgun Gothic"/>
                        </a:rPr>
                        <a:t>JSON 하나를 schema 로 강제</a:t>
                      </a:r>
                    </a:p>
                  </a:txBody>
                  <a:tcPr anchor="ctr">
                    <a:solidFill>
                      <a:srgbClr val="DCEBEC"/>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structured outputs</a:t>
                      </a:r>
                    </a:p>
                    <a:p>
                      <a:pPr algn="l">
                        <a:spcAft>
                          <a:spcPts val="0"/>
                        </a:spcAft>
                      </a:pPr>
                      <a:r>
                        <a:rPr sz="1400" b="0" i="0">
                          <a:solidFill>
                            <a:srgbClr val="1F2A30"/>
                          </a:solidFill>
                          <a:latin typeface="Malgun Gothic"/>
                          <a:ea typeface="Malgun Gothic"/>
                          <a:cs typeface="Malgun Gothic"/>
                        </a:rPr>
                        <a:t>(지금 서버 그대로)</a:t>
                      </a:r>
                    </a:p>
                  </a:txBody>
                  <a:tcPr anchor="ctr">
                    <a:solidFill>
                      <a:srgbClr val="DCEBEC"/>
                    </a:solidFill>
                  </a:tcPr>
                </a:tc>
                <a:tc>
                  <a:txBody>
                    <a:bodyPr wrap="square" tIns="91440" bIns="91440" anchor="t"/>
                    <a:lstStyle/>
                    <a:p>
                      <a:pPr algn="l">
                        <a:spcAft>
                          <a:spcPts val="0"/>
                        </a:spcAft>
                      </a:pPr>
                      <a:r>
                        <a:rPr sz="1400" b="0" i="0">
                          <a:solidFill>
                            <a:srgbClr val="2E6F73"/>
                          </a:solidFill>
                          <a:latin typeface="Malgun Gothic"/>
                          <a:ea typeface="Malgun Gothic"/>
                          <a:cs typeface="Malgun Gothic"/>
                        </a:rPr>
                        <a:t>동작 확인</a:t>
                      </a:r>
                    </a:p>
                  </a:txBody>
                  <a:tcPr anchor="ctr">
                    <a:solidFill>
                      <a:srgbClr val="DCEBEC"/>
                    </a:solidFill>
                  </a:tcPr>
                </a:tc>
              </a:tr>
              <a:tr h="594360">
                <a:tc>
                  <a:txBody>
                    <a:bodyPr wrap="square" tIns="91440" bIns="91440" anchor="t"/>
                    <a:lstStyle/>
                    <a:p>
                      <a:pPr algn="l">
                        <a:spcAft>
                          <a:spcPts val="0"/>
                        </a:spcAft>
                      </a:pPr>
                      <a:r>
                        <a:rPr sz="1400" b="1" i="0">
                          <a:solidFill>
                            <a:srgbClr val="1F2A30"/>
                          </a:solidFill>
                          <a:latin typeface="Malgun Gothic"/>
                          <a:ea typeface="Malgun Gothic"/>
                          <a:cs typeface="Malgun Gothic"/>
                        </a:rPr>
                        <a:t>anthropic</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Claude tool use, 같은 루프</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ANTHROPIC_API_KEY</a:t>
                      </a:r>
                    </a:p>
                  </a:txBody>
                  <a:tcPr anchor="ctr">
                    <a:solidFill>
                      <a:srgbClr val="EEF3F4"/>
                    </a:solidFill>
                  </a:tcPr>
                </a:tc>
                <a:tc>
                  <a:txBody>
                    <a:bodyPr wrap="square" tIns="91440" bIns="91440" anchor="t"/>
                    <a:lstStyle/>
                    <a:p>
                      <a:pPr algn="l">
                        <a:spcAft>
                          <a:spcPts val="0"/>
                        </a:spcAft>
                      </a:pPr>
                      <a:r>
                        <a:rPr sz="1400" b="0" i="0">
                          <a:solidFill>
                            <a:srgbClr val="1F2A30"/>
                          </a:solidFill>
                          <a:latin typeface="Malgun Gothic"/>
                          <a:ea typeface="Malgun Gothic"/>
                          <a:cs typeface="Malgun Gothic"/>
                        </a:rPr>
                        <a:t>미실행 (비용)</a:t>
                      </a:r>
                    </a:p>
                  </a:txBody>
                  <a:tcPr anchor="ctr">
                    <a:solidFill>
                      <a:srgbClr val="EEF3F4"/>
                    </a:solidFill>
                  </a:tcPr>
                </a:tc>
              </a:tr>
            </a:tbl>
          </a:graphicData>
        </a:graphic>
      </p:graphicFrame>
      <p:sp>
        <p:nvSpPr>
          <p:cNvPr id="7" name="Rounded Rectangle 6"/>
          <p:cNvSpPr/>
          <p:nvPr/>
        </p:nvSpPr>
        <p:spPr>
          <a:xfrm>
            <a:off x="548640" y="4343400"/>
            <a:ext cx="5760720" cy="1691640"/>
          </a:xfrm>
          <a:prstGeom prst="roundRect">
            <a:avLst>
              <a:gd name="adj" fmla="val 3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200"/>
              </a:spcAft>
            </a:pPr>
            <a:r>
              <a:rPr sz="1100" b="0" i="0">
                <a:solidFill>
                  <a:srgbClr val="E6EDF0"/>
                </a:solidFill>
                <a:latin typeface="Consolas"/>
                <a:ea typeface="Consolas"/>
                <a:cs typeface="Consolas"/>
              </a:rPr>
              <a:t>// schema 모드의 응답 형식 (vLLM xgrammar 가 강제)</a:t>
            </a:r>
          </a:p>
          <a:p>
            <a:pPr algn="l">
              <a:spcAft>
                <a:spcPts val="200"/>
              </a:spcAft>
            </a:pPr>
            <a:r>
              <a:rPr sz="1100" b="0" i="0">
                <a:solidFill>
                  <a:srgbClr val="E6EDF0"/>
                </a:solidFill>
                <a:latin typeface="Consolas"/>
                <a:ea typeface="Consolas"/>
                <a:cs typeface="Consolas"/>
              </a:rPr>
              <a:t>{"anyOf": [</a:t>
            </a:r>
          </a:p>
          <a:p>
            <a:pPr algn="l">
              <a:spcAft>
                <a:spcPts val="200"/>
              </a:spcAft>
            </a:pPr>
            <a:r>
              <a:rPr sz="1100" b="0" i="0">
                <a:solidFill>
                  <a:srgbClr val="E6EDF0"/>
                </a:solidFill>
                <a:latin typeface="Consolas"/>
                <a:ea typeface="Consolas"/>
                <a:cs typeface="Consolas"/>
              </a:rPr>
              <a:t>  {"tool": {"const": "run_views"}, "arguments": {…}},</a:t>
            </a:r>
          </a:p>
          <a:p>
            <a:pPr algn="l">
              <a:spcAft>
                <a:spcPts val="200"/>
              </a:spcAft>
            </a:pPr>
            <a:r>
              <a:rPr sz="1100" b="0" i="0">
                <a:solidFill>
                  <a:srgbClr val="E6EDF0"/>
                </a:solidFill>
                <a:latin typeface="Consolas"/>
                <a:ea typeface="Consolas"/>
                <a:cs typeface="Consolas"/>
              </a:rPr>
              <a:t>  … tool 17개 …,</a:t>
            </a:r>
          </a:p>
          <a:p>
            <a:pPr algn="l">
              <a:spcAft>
                <a:spcPts val="200"/>
              </a:spcAft>
            </a:pPr>
            <a:r>
              <a:rPr sz="1100" b="0" i="0">
                <a:solidFill>
                  <a:srgbClr val="E6EDF0"/>
                </a:solidFill>
                <a:latin typeface="Consolas"/>
                <a:ea typeface="Consolas"/>
                <a:cs typeface="Consolas"/>
              </a:rPr>
              <a:t>  {"tool": {"const": "finish"}, "arguments": {"answer": …}}]}</a:t>
            </a:r>
          </a:p>
          <a:p>
            <a:pPr algn="l">
              <a:spcAft>
                <a:spcPts val="200"/>
              </a:spcAft>
            </a:pPr>
            <a:r>
              <a:rPr sz="1100" b="0" i="0">
                <a:solidFill>
                  <a:srgbClr val="E6EDF0"/>
                </a:solidFill>
                <a:latin typeface="Consolas"/>
                <a:ea typeface="Consolas"/>
                <a:cs typeface="Consolas"/>
              </a:rPr>
              <a:t>// 항목마다 thought 칸이 먼저 온다</a:t>
            </a:r>
          </a:p>
        </p:txBody>
      </p:sp>
      <p:sp>
        <p:nvSpPr>
          <p:cNvPr id="8" name="Rounded Rectangle 7"/>
          <p:cNvSpPr/>
          <p:nvPr/>
        </p:nvSpPr>
        <p:spPr>
          <a:xfrm>
            <a:off x="6537959" y="4343400"/>
            <a:ext cx="5105095" cy="169164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1700" b="1" i="0">
                <a:solidFill>
                  <a:srgbClr val="2E6F73"/>
                </a:solidFill>
                <a:latin typeface="Malgun Gothic"/>
                <a:ea typeface="Malgun Gothic"/>
                <a:cs typeface="Malgun Gothic"/>
              </a:rPr>
              <a:t>형식을 틀릴 수 없다</a:t>
            </a:r>
          </a:p>
          <a:p>
            <a:pPr algn="l">
              <a:spcAft>
                <a:spcPts val="600"/>
              </a:spcAft>
            </a:pPr>
            <a:r>
              <a:rPr sz="1500" b="0" i="0">
                <a:solidFill>
                  <a:srgbClr val="1F2A30"/>
                </a:solidFill>
                <a:latin typeface="Malgun Gothic"/>
                <a:ea typeface="Malgun Gothic"/>
                <a:cs typeface="Malgun Gothic"/>
              </a:rPr>
              <a:t>디코딩 단계에서 강제하므로 약한 모델도 tool 호출 형식은 항상 맞다. 대가: 응답마다 tool 하나, 생각은 thought 칸에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대화형이 아니라 명령 1회 처리기</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상태는 대화가 아니라 작업 폴더의 단계 파일에 있다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9</a:t>
            </a:r>
          </a:p>
        </p:txBody>
      </p:sp>
      <p:sp>
        <p:nvSpPr>
          <p:cNvPr id="6" name="Rounded Rectangle 5"/>
          <p:cNvSpPr/>
          <p:nvPr/>
        </p:nvSpPr>
        <p:spPr>
          <a:xfrm>
            <a:off x="548640" y="1691640"/>
            <a:ext cx="3383280" cy="201168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2000" b="1" i="0">
                <a:solidFill>
                  <a:srgbClr val="5F6B73"/>
                </a:solidFill>
                <a:latin typeface="Malgun Gothic"/>
                <a:ea typeface="Malgun Gothic"/>
                <a:cs typeface="Malgun Gothic"/>
              </a:rPr>
              <a:t>대화형</a:t>
            </a:r>
          </a:p>
          <a:p>
            <a:pPr algn="l" marL="256032" indent="-201168">
              <a:spcAft>
                <a:spcPts val="600"/>
              </a:spcAft>
              <a:buClr>
                <a:srgbClr val="E8743B"/>
              </a:buClr>
              <a:buChar char="•"/>
            </a:pPr>
            <a:r>
              <a:rPr sz="1500" b="0" i="0">
                <a:solidFill>
                  <a:srgbClr val="1F2A30"/>
                </a:solidFill>
                <a:latin typeface="Malgun Gothic"/>
                <a:ea typeface="Malgun Gothic"/>
                <a:cs typeface="Malgun Gothic"/>
              </a:rPr>
              <a:t>상태가 대화 기록에 쌓인다</a:t>
            </a:r>
          </a:p>
          <a:p>
            <a:pPr algn="l" marL="256032" indent="-201168">
              <a:spcAft>
                <a:spcPts val="600"/>
              </a:spcAft>
              <a:buClr>
                <a:srgbClr val="E8743B"/>
              </a:buClr>
              <a:buChar char="•"/>
            </a:pPr>
            <a:r>
              <a:rPr sz="1500" b="0" i="0">
                <a:solidFill>
                  <a:srgbClr val="1F2A30"/>
                </a:solidFill>
                <a:latin typeface="Malgun Gothic"/>
                <a:ea typeface="Malgun Gothic"/>
                <a:cs typeface="Malgun Gothic"/>
              </a:rPr>
              <a:t>같은 조건으로 다시 돌리기 어렵다</a:t>
            </a:r>
          </a:p>
        </p:txBody>
      </p:sp>
      <p:sp>
        <p:nvSpPr>
          <p:cNvPr id="7" name="Rounded Rectangle 6"/>
          <p:cNvSpPr/>
          <p:nvPr/>
        </p:nvSpPr>
        <p:spPr>
          <a:xfrm>
            <a:off x="548640" y="3931920"/>
            <a:ext cx="3383280" cy="2103120"/>
          </a:xfrm>
          <a:prstGeom prst="roundRect">
            <a:avLst>
              <a:gd name="adj" fmla="val 6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600"/>
              </a:spcAft>
            </a:pPr>
            <a:r>
              <a:rPr sz="2000" b="1" i="0">
                <a:solidFill>
                  <a:srgbClr val="2E6F73"/>
                </a:solidFill>
                <a:latin typeface="Malgun Gothic"/>
                <a:ea typeface="Malgun Gothic"/>
                <a:cs typeface="Malgun Gothic"/>
              </a:rPr>
              <a:t>명령 1회 처리기</a:t>
            </a:r>
          </a:p>
          <a:p>
            <a:pPr algn="l" marL="256032" indent="-201168">
              <a:spcAft>
                <a:spcPts val="600"/>
              </a:spcAft>
              <a:buClr>
                <a:srgbClr val="E8743B"/>
              </a:buClr>
              <a:buChar char="•"/>
            </a:pPr>
            <a:r>
              <a:rPr sz="1500" b="0" i="0">
                <a:solidFill>
                  <a:srgbClr val="1F2A30"/>
                </a:solidFill>
                <a:latin typeface="Malgun Gothic"/>
                <a:ea typeface="Malgun Gothic"/>
                <a:cs typeface="Malgun Gothic"/>
              </a:rPr>
              <a:t>명령 하나 → 기록 폴더 하나</a:t>
            </a:r>
          </a:p>
          <a:p>
            <a:pPr algn="l" marL="256032" indent="-201168">
              <a:spcAft>
                <a:spcPts val="600"/>
              </a:spcAft>
              <a:buClr>
                <a:srgbClr val="E8743B"/>
              </a:buClr>
              <a:buChar char="•"/>
            </a:pPr>
            <a:r>
              <a:rPr sz="1500" b="0" i="0">
                <a:solidFill>
                  <a:srgbClr val="1F2A30"/>
                </a:solidFill>
                <a:latin typeface="Malgun Gothic"/>
                <a:ea typeface="Malgun Gothic"/>
                <a:cs typeface="Malgun Gothic"/>
              </a:rPr>
              <a:t>같은 명령을 다시 돌려 비교</a:t>
            </a:r>
          </a:p>
          <a:p>
            <a:pPr algn="l" marL="256032" indent="-201168">
              <a:spcAft>
                <a:spcPts val="600"/>
              </a:spcAft>
              <a:buClr>
                <a:srgbClr val="E8743B"/>
              </a:buClr>
              <a:buChar char="•"/>
            </a:pPr>
            <a:r>
              <a:rPr sz="1500" b="0" i="0">
                <a:solidFill>
                  <a:srgbClr val="1F2A30"/>
                </a:solidFill>
                <a:latin typeface="Malgun Gothic"/>
                <a:ea typeface="Malgun Gothic"/>
                <a:cs typeface="Malgun Gothic"/>
              </a:rPr>
              <a:t>상태는 단계 파일에</a:t>
            </a:r>
          </a:p>
        </p:txBody>
      </p:sp>
      <p:sp>
        <p:nvSpPr>
          <p:cNvPr id="8" name="Oval 7"/>
          <p:cNvSpPr/>
          <p:nvPr/>
        </p:nvSpPr>
        <p:spPr>
          <a:xfrm>
            <a:off x="4297679" y="1920240"/>
            <a:ext cx="685800" cy="6858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300" b="1" i="0">
                <a:solidFill>
                  <a:srgbClr val="FFFFFF"/>
                </a:solidFill>
                <a:latin typeface="Malgun Gothic"/>
                <a:ea typeface="Malgun Gothic"/>
                <a:cs typeface="Malgun Gothic"/>
              </a:rPr>
              <a:t>명령 1</a:t>
            </a:r>
          </a:p>
        </p:txBody>
      </p:sp>
      <p:sp>
        <p:nvSpPr>
          <p:cNvPr id="9" name="Rounded Rectangle 8"/>
          <p:cNvSpPr/>
          <p:nvPr/>
        </p:nvSpPr>
        <p:spPr>
          <a:xfrm>
            <a:off x="5166359" y="1691640"/>
            <a:ext cx="6476695"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700" b="1" i="0">
                <a:solidFill>
                  <a:srgbClr val="1F2A30"/>
                </a:solidFill>
                <a:latin typeface="Malgun Gothic"/>
                <a:ea typeface="Malgun Gothic"/>
                <a:cs typeface="Malgun Gothic"/>
              </a:rPr>
              <a:t>"cone_0019 를 전개도까지 판독해줘"</a:t>
            </a:r>
          </a:p>
          <a:p>
            <a:pPr algn="l">
              <a:spcAft>
                <a:spcPts val="400"/>
              </a:spcAft>
            </a:pPr>
            <a:r>
              <a:rPr sz="1400" b="0" i="0">
                <a:solidFill>
                  <a:srgbClr val="5F6B73"/>
                </a:solidFill>
                <a:latin typeface="Consolas"/>
                <a:ea typeface="Consolas"/>
                <a:cs typeface="Consolas"/>
              </a:rPr>
              <a:t>list_drawings → run_stages(read → develop)</a:t>
            </a:r>
          </a:p>
        </p:txBody>
      </p:sp>
      <p:sp>
        <p:nvSpPr>
          <p:cNvPr id="10" name="Oval 9"/>
          <p:cNvSpPr/>
          <p:nvPr/>
        </p:nvSpPr>
        <p:spPr>
          <a:xfrm>
            <a:off x="4297679" y="3401568"/>
            <a:ext cx="685800" cy="685800"/>
          </a:xfrm>
          <a:prstGeom prst="ellipse">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300" b="1" i="0">
                <a:solidFill>
                  <a:srgbClr val="FFFFFF"/>
                </a:solidFill>
                <a:latin typeface="Malgun Gothic"/>
                <a:ea typeface="Malgun Gothic"/>
                <a:cs typeface="Malgun Gothic"/>
              </a:rPr>
              <a:t>결과</a:t>
            </a:r>
          </a:p>
        </p:txBody>
      </p:sp>
      <p:sp>
        <p:nvSpPr>
          <p:cNvPr id="11" name="Rounded Rectangle 10"/>
          <p:cNvSpPr/>
          <p:nvPr/>
        </p:nvSpPr>
        <p:spPr>
          <a:xfrm>
            <a:off x="5166359" y="3172968"/>
            <a:ext cx="6476695"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700" b="1" i="0">
                <a:solidFill>
                  <a:srgbClr val="1F2A30"/>
                </a:solidFill>
                <a:latin typeface="Malgun Gothic"/>
                <a:ea typeface="Malgun Gothic"/>
                <a:cs typeface="Malgun Gothic"/>
              </a:rPr>
              <a:t>작업 폴더에 stages/01 … 10 이 남는다</a:t>
            </a:r>
          </a:p>
          <a:p>
            <a:pPr algn="l">
              <a:spcAft>
                <a:spcPts val="400"/>
              </a:spcAft>
            </a:pPr>
            <a:r>
              <a:rPr sz="1400" b="0" i="0">
                <a:solidFill>
                  <a:srgbClr val="5F6B73"/>
                </a:solidFill>
                <a:latin typeface="Consolas"/>
                <a:ea typeface="Consolas"/>
                <a:cs typeface="Consolas"/>
              </a:rPr>
              <a:t>다음 명령이 읽을 상태</a:t>
            </a:r>
          </a:p>
        </p:txBody>
      </p:sp>
      <p:sp>
        <p:nvSpPr>
          <p:cNvPr id="12" name="Oval 11"/>
          <p:cNvSpPr/>
          <p:nvPr/>
        </p:nvSpPr>
        <p:spPr>
          <a:xfrm>
            <a:off x="4297679" y="4882896"/>
            <a:ext cx="685800" cy="68580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300" b="1" i="0">
                <a:solidFill>
                  <a:srgbClr val="FFFFFF"/>
                </a:solidFill>
                <a:latin typeface="Malgun Gothic"/>
                <a:ea typeface="Malgun Gothic"/>
                <a:cs typeface="Malgun Gothic"/>
              </a:rPr>
              <a:t>명령 2</a:t>
            </a:r>
          </a:p>
        </p:txBody>
      </p:sp>
      <p:sp>
        <p:nvSpPr>
          <p:cNvPr id="13" name="Rounded Rectangle 12"/>
          <p:cNvSpPr/>
          <p:nvPr/>
        </p:nvSpPr>
        <p:spPr>
          <a:xfrm>
            <a:off x="5166359" y="4654296"/>
            <a:ext cx="6476695" cy="118872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400"/>
              </a:spcAft>
            </a:pPr>
            <a:r>
              <a:rPr sz="1700" b="1" i="0">
                <a:solidFill>
                  <a:srgbClr val="1F2A30"/>
                </a:solidFill>
                <a:latin typeface="Malgun Gothic"/>
                <a:ea typeface="Malgun Gothic"/>
                <a:cs typeface="Malgun Gothic"/>
              </a:rPr>
              <a:t>"view_labels 부터 다시 돌려줘"</a:t>
            </a:r>
          </a:p>
          <a:p>
            <a:pPr algn="l">
              <a:spcAft>
                <a:spcPts val="400"/>
              </a:spcAft>
            </a:pPr>
            <a:r>
              <a:rPr sz="1400" b="0" i="0">
                <a:solidFill>
                  <a:srgbClr val="5F6B73"/>
                </a:solidFill>
                <a:latin typeface="Consolas"/>
                <a:ea typeface="Consolas"/>
                <a:cs typeface="Consolas"/>
              </a:rPr>
              <a:t>stage_status 로 확인 → run_view_labels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시연: cone_0019 판독</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로컬 Qwen3.6-27B 가 명령 한 줄을 받아 tool 두 번으로 끝까지 돌렸다 (2026-10-23, mlic)</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10</a:t>
            </a:r>
          </a:p>
        </p:txBody>
      </p:sp>
      <p:sp>
        <p:nvSpPr>
          <p:cNvPr id="6" name="Rounded Rectangle 5"/>
          <p:cNvSpPr/>
          <p:nvPr/>
        </p:nvSpPr>
        <p:spPr>
          <a:xfrm>
            <a:off x="548640" y="1691640"/>
            <a:ext cx="2602153" cy="1600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0"/>
              </a:spcAft>
            </a:pPr>
            <a:r>
              <a:rPr sz="4800" b="1" i="0">
                <a:solidFill>
                  <a:srgbClr val="E8743B"/>
                </a:solidFill>
                <a:latin typeface="Malgun Gothic"/>
                <a:ea typeface="Malgun Gothic"/>
                <a:cs typeface="Malgun Gothic"/>
              </a:rPr>
              <a:t>3</a:t>
            </a:r>
          </a:p>
          <a:p>
            <a:pPr algn="ctr">
              <a:spcAft>
                <a:spcPts val="0"/>
              </a:spcAft>
            </a:pPr>
            <a:r>
              <a:rPr sz="1500" b="0" i="0">
                <a:solidFill>
                  <a:srgbClr val="5F6B73"/>
                </a:solidFill>
                <a:latin typeface="Malgun Gothic"/>
                <a:ea typeface="Malgun Gothic"/>
                <a:cs typeface="Malgun Gothic"/>
              </a:rPr>
              <a:t>모델 턴</a:t>
            </a:r>
          </a:p>
        </p:txBody>
      </p:sp>
      <p:sp>
        <p:nvSpPr>
          <p:cNvPr id="7" name="Rounded Rectangle 6"/>
          <p:cNvSpPr/>
          <p:nvPr/>
        </p:nvSpPr>
        <p:spPr>
          <a:xfrm>
            <a:off x="3379393" y="1691640"/>
            <a:ext cx="2602153" cy="1600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0"/>
              </a:spcAft>
            </a:pPr>
            <a:r>
              <a:rPr sz="4800" b="1" i="0">
                <a:solidFill>
                  <a:srgbClr val="E8743B"/>
                </a:solidFill>
                <a:latin typeface="Malgun Gothic"/>
                <a:ea typeface="Malgun Gothic"/>
                <a:cs typeface="Malgun Gothic"/>
              </a:rPr>
              <a:t>133 s</a:t>
            </a:r>
          </a:p>
          <a:p>
            <a:pPr algn="ctr">
              <a:spcAft>
                <a:spcPts val="0"/>
              </a:spcAft>
            </a:pPr>
            <a:r>
              <a:rPr sz="1500" b="0" i="0">
                <a:solidFill>
                  <a:srgbClr val="5F6B73"/>
                </a:solidFill>
                <a:latin typeface="Malgun Gothic"/>
                <a:ea typeface="Malgun Gothic"/>
                <a:cs typeface="Malgun Gothic"/>
              </a:rPr>
              <a:t>전체 시간</a:t>
            </a:r>
          </a:p>
        </p:txBody>
      </p:sp>
      <p:sp>
        <p:nvSpPr>
          <p:cNvPr id="8" name="Rounded Rectangle 7"/>
          <p:cNvSpPr/>
          <p:nvPr/>
        </p:nvSpPr>
        <p:spPr>
          <a:xfrm>
            <a:off x="6210147" y="1691640"/>
            <a:ext cx="2602153" cy="1600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0"/>
              </a:spcAft>
            </a:pPr>
            <a:r>
              <a:rPr sz="4800" b="1" i="0">
                <a:solidFill>
                  <a:srgbClr val="E8743B"/>
                </a:solidFill>
                <a:latin typeface="Malgun Gothic"/>
                <a:ea typeface="Malgun Gothic"/>
                <a:cs typeface="Malgun Gothic"/>
              </a:rPr>
              <a:t>92 s</a:t>
            </a:r>
          </a:p>
          <a:p>
            <a:pPr algn="ctr">
              <a:spcAft>
                <a:spcPts val="0"/>
              </a:spcAft>
            </a:pPr>
            <a:r>
              <a:rPr sz="1500" b="0" i="0">
                <a:solidFill>
                  <a:srgbClr val="5F6B73"/>
                </a:solidFill>
                <a:latin typeface="Malgun Gothic"/>
                <a:ea typeface="Malgun Gothic"/>
                <a:cs typeface="Malgun Gothic"/>
              </a:rPr>
              <a:t>그중 단계 실행</a:t>
            </a:r>
          </a:p>
        </p:txBody>
      </p:sp>
      <p:sp>
        <p:nvSpPr>
          <p:cNvPr id="9" name="Rounded Rectangle 8"/>
          <p:cNvSpPr/>
          <p:nvPr/>
        </p:nvSpPr>
        <p:spPr>
          <a:xfrm>
            <a:off x="9040901" y="1691640"/>
            <a:ext cx="2602153" cy="16002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spcAft>
                <a:spcPts val="0"/>
              </a:spcAft>
            </a:pPr>
            <a:r>
              <a:rPr sz="4800" b="1" i="0">
                <a:solidFill>
                  <a:srgbClr val="E8743B"/>
                </a:solidFill>
                <a:latin typeface="Malgun Gothic"/>
                <a:ea typeface="Malgun Gothic"/>
                <a:cs typeface="Malgun Gothic"/>
              </a:rPr>
              <a:t>0</a:t>
            </a:r>
          </a:p>
          <a:p>
            <a:pPr algn="ctr">
              <a:spcAft>
                <a:spcPts val="0"/>
              </a:spcAft>
            </a:pPr>
            <a:r>
              <a:rPr sz="1500" b="0" i="0">
                <a:solidFill>
                  <a:srgbClr val="5F6B73"/>
                </a:solidFill>
                <a:latin typeface="Malgun Gothic"/>
                <a:ea typeface="Malgun Gothic"/>
                <a:cs typeface="Malgun Gothic"/>
              </a:rPr>
              <a:t>지어낸 숫자</a:t>
            </a:r>
          </a:p>
        </p:txBody>
      </p:sp>
      <p:sp>
        <p:nvSpPr>
          <p:cNvPr id="10" name="Rounded Rectangle 9"/>
          <p:cNvSpPr/>
          <p:nvPr/>
        </p:nvSpPr>
        <p:spPr>
          <a:xfrm>
            <a:off x="548640" y="3611880"/>
            <a:ext cx="1097280" cy="548640"/>
          </a:xfrm>
          <a:prstGeom prst="roundRect">
            <a:avLst>
              <a:gd name="adj" fmla="val 15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F2A30"/>
                </a:solidFill>
                <a:latin typeface="Malgun Gothic"/>
                <a:ea typeface="Malgun Gothic"/>
                <a:cs typeface="Malgun Gothic"/>
              </a:rPr>
              <a:t>명령</a:t>
            </a:r>
          </a:p>
        </p:txBody>
      </p:sp>
      <p:sp>
        <p:nvSpPr>
          <p:cNvPr id="11" name="Right Arrow 10"/>
          <p:cNvSpPr/>
          <p:nvPr/>
        </p:nvSpPr>
        <p:spPr>
          <a:xfrm>
            <a:off x="1682495" y="3739896"/>
            <a:ext cx="228600"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47672" y="3611880"/>
            <a:ext cx="3794760" cy="548640"/>
          </a:xfrm>
          <a:prstGeom prst="roundRect">
            <a:avLst>
              <a:gd name="adj" fmla="val 15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F2A30"/>
                </a:solidFill>
                <a:latin typeface="Malgun Gothic"/>
                <a:ea typeface="Malgun Gothic"/>
                <a:cs typeface="Malgun Gothic"/>
              </a:rPr>
              <a:t>list_drawings(name="cone_0019")</a:t>
            </a:r>
          </a:p>
        </p:txBody>
      </p:sp>
      <p:sp>
        <p:nvSpPr>
          <p:cNvPr id="13" name="Right Arrow 12"/>
          <p:cNvSpPr/>
          <p:nvPr/>
        </p:nvSpPr>
        <p:spPr>
          <a:xfrm>
            <a:off x="5779008" y="3739896"/>
            <a:ext cx="228600"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44184" y="3611880"/>
            <a:ext cx="3291840" cy="548640"/>
          </a:xfrm>
          <a:prstGeom prst="roundRect">
            <a:avLst>
              <a:gd name="adj" fmla="val 15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F2A30"/>
                </a:solidFill>
                <a:latin typeface="Malgun Gothic"/>
                <a:ea typeface="Malgun Gothic"/>
                <a:cs typeface="Malgun Gothic"/>
              </a:rPr>
              <a:t>run_stages(read → develop)</a:t>
            </a:r>
          </a:p>
        </p:txBody>
      </p:sp>
      <p:sp>
        <p:nvSpPr>
          <p:cNvPr id="15" name="Right Arrow 14"/>
          <p:cNvSpPr/>
          <p:nvPr/>
        </p:nvSpPr>
        <p:spPr>
          <a:xfrm>
            <a:off x="9372600" y="3739896"/>
            <a:ext cx="228600" cy="292608"/>
          </a:xfrm>
          <a:prstGeom prst="rightArrow">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37776" y="3611880"/>
            <a:ext cx="1783080" cy="548640"/>
          </a:xfrm>
          <a:prstGeom prst="roundRect">
            <a:avLst>
              <a:gd name="adj" fmla="val 15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pPr>
            <a:r>
              <a:rPr sz="1300" b="1" i="0">
                <a:solidFill>
                  <a:srgbClr val="1F2A30"/>
                </a:solidFill>
                <a:latin typeface="Malgun Gothic"/>
                <a:ea typeface="Malgun Gothic"/>
                <a:cs typeface="Malgun Gothic"/>
              </a:rPr>
              <a:t>finish: 보고</a:t>
            </a:r>
          </a:p>
        </p:txBody>
      </p:sp>
      <p:sp>
        <p:nvSpPr>
          <p:cNvPr id="17" name="Rounded Rectangle 16"/>
          <p:cNvSpPr/>
          <p:nvPr/>
        </p:nvSpPr>
        <p:spPr>
          <a:xfrm>
            <a:off x="548640" y="4434840"/>
            <a:ext cx="11094415" cy="914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500" b="1" i="0">
                <a:solidFill>
                  <a:srgbClr val="2E6F73"/>
                </a:solidFill>
                <a:latin typeface="Malgun Gothic"/>
                <a:ea typeface="Malgun Gothic"/>
                <a:cs typeface="Malgun Gothic"/>
              </a:rPr>
              <a:t>턴 2 의 thought  </a:t>
            </a:r>
            <a:r>
              <a:rPr sz="1500" b="0" i="1">
                <a:solidFill>
                  <a:srgbClr val="1F2A30"/>
                </a:solidFill>
                <a:latin typeface="Malgun Gothic"/>
                <a:ea typeface="Malgun Gothic"/>
                <a:cs typeface="Malgun Gothic"/>
              </a:rPr>
              <a:t>"아직 실행된 단계가 없으므로, 요청에 따라 전개도(develop)까지 판독하기 위해 read 부터 develop 까지의 단계를 run_stages 로 한 번에 실행합니다."</a:t>
            </a:r>
          </a:p>
        </p:txBody>
      </p:sp>
      <p:sp>
        <p:nvSpPr>
          <p:cNvPr id="18" name="TextBox 17"/>
          <p:cNvSpPr txBox="1"/>
          <p:nvPr/>
        </p:nvSpPr>
        <p:spPr>
          <a:xfrm>
            <a:off x="548640" y="5532120"/>
            <a:ext cx="11094415" cy="457200"/>
          </a:xfrm>
          <a:prstGeom prst="rect">
            <a:avLst/>
          </a:prstGeom>
          <a:noFill/>
        </p:spPr>
        <p:txBody>
          <a:bodyPr wrap="square" lIns="0" rIns="0" tIns="0" bIns="0" anchor="t">
            <a:spAutoFit/>
          </a:bodyPr>
          <a:lstStyle/>
          <a:p>
            <a:pPr algn="l">
              <a:spcAft>
                <a:spcPts val="600"/>
              </a:spcAft>
            </a:pPr>
            <a:r>
              <a:rPr sz="1300" b="0" i="0">
                <a:solidFill>
                  <a:srgbClr val="5F6B73"/>
                </a:solidFill>
                <a:latin typeface="Malgun Gothic"/>
                <a:ea typeface="Malgun Gothic"/>
                <a:cs typeface="Malgun Gothic"/>
              </a:rPr>
              <a:t>orchestrator: Qwen3.6-27B (GPU 1–3, schema 모드) · 단계 모델: DeepSeek-OCR-2 + Qwen3.6-27B · 마지막 턴 입력 4.3k 토큰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된 것과 안 된 것</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orchestrator 의 가치는 판단이 필요한 상황에서 나온다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11</a:t>
            </a:r>
          </a:p>
        </p:txBody>
      </p:sp>
      <p:sp>
        <p:nvSpPr>
          <p:cNvPr id="6" name="Rounded Rectangle 5"/>
          <p:cNvSpPr/>
          <p:nvPr/>
        </p:nvSpPr>
        <p:spPr>
          <a:xfrm>
            <a:off x="548640" y="1691640"/>
            <a:ext cx="5410047" cy="3291840"/>
          </a:xfrm>
          <a:prstGeom prst="roundRect">
            <a:avLst>
              <a:gd name="adj" fmla="val 6000"/>
            </a:avLst>
          </a:prstGeom>
          <a:solidFill>
            <a:srgbClr val="DCEB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200" b="1" i="0">
                <a:solidFill>
                  <a:srgbClr val="2E6F73"/>
                </a:solidFill>
                <a:latin typeface="Malgun Gothic"/>
                <a:ea typeface="Malgun Gothic"/>
                <a:cs typeface="Malgun Gothic"/>
              </a:rPr>
              <a:t>된 것</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자연어 명령 → 알맞은 tool 호출</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보고한 숫자(지름 150 / 92, 높이 150, 반지름 405.65 / 252.87, 68.33°)는 모두 tool 결과에 있다</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로컬 모델만으로 끝까지 돌았다</a:t>
            </a:r>
          </a:p>
        </p:txBody>
      </p:sp>
      <p:sp>
        <p:nvSpPr>
          <p:cNvPr id="7" name="Rounded Rectangle 6"/>
          <p:cNvSpPr/>
          <p:nvPr/>
        </p:nvSpPr>
        <p:spPr>
          <a:xfrm>
            <a:off x="6233007" y="1691640"/>
            <a:ext cx="5410047" cy="329184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1000"/>
              </a:spcAft>
            </a:pPr>
            <a:r>
              <a:rPr sz="2200" b="1" i="0">
                <a:solidFill>
                  <a:srgbClr val="E8743B"/>
                </a:solidFill>
                <a:latin typeface="Malgun Gothic"/>
                <a:ea typeface="Malgun Gothic"/>
                <a:cs typeface="Malgun Gothic"/>
              </a:rPr>
              <a:t>한계</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처음부터 끝까지 돌리기에는 이점 없음 — 고정 순서와 같은 일, 약 +40 s</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판독 정확도는 그대로 — 작은 지름 92, 정답 100 (09 unfold_params 오차)</a:t>
            </a:r>
          </a:p>
          <a:p>
            <a:pPr algn="l" marL="256032" indent="-201168">
              <a:spcAft>
                <a:spcPts val="1000"/>
              </a:spcAft>
              <a:buClr>
                <a:srgbClr val="E8743B"/>
              </a:buClr>
              <a:buChar char="•"/>
            </a:pPr>
            <a:r>
              <a:rPr sz="1600" b="0" i="0">
                <a:solidFill>
                  <a:srgbClr val="1F2A30"/>
                </a:solidFill>
                <a:latin typeface="Malgun Gothic"/>
                <a:ea typeface="Malgun Gothic"/>
                <a:cs typeface="Malgun Gothic"/>
              </a:rPr>
              <a:t>native 모드, Claude, 여러 도면, 실패 복구는 미검증</a:t>
            </a:r>
          </a:p>
        </p:txBody>
      </p:sp>
      <p:sp>
        <p:nvSpPr>
          <p:cNvPr id="8" name="Rounded Rectangle 7"/>
          <p:cNvSpPr/>
          <p:nvPr/>
        </p:nvSpPr>
        <p:spPr>
          <a:xfrm>
            <a:off x="548640" y="5212080"/>
            <a:ext cx="11094415" cy="8229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600" b="1" i="0">
                <a:solidFill>
                  <a:srgbClr val="E8743B"/>
                </a:solidFill>
                <a:latin typeface="Malgun Gothic"/>
                <a:ea typeface="Malgun Gothic"/>
                <a:cs typeface="Malgun Gothic"/>
              </a:rPr>
              <a:t>다음에 잴 것  </a:t>
            </a:r>
            <a:r>
              <a:rPr sz="1600" b="0" i="0">
                <a:solidFill>
                  <a:srgbClr val="1F2A30"/>
                </a:solidFill>
                <a:latin typeface="Malgun Gothic"/>
                <a:ea typeface="Malgun Gothic"/>
                <a:cs typeface="Malgun Gothic"/>
              </a:rPr>
              <a:t>실패 · review · 부분 재실행이 필요한 도면에서 고정 순서보다 나은가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모든 판단이 기록으로 남는다</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어떤 생각으로 어떤 tool 을 불렀는지가 턴마다 남아, 비교 · 재현 · 평가의 데이터가 된다</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12</a:t>
            </a:r>
          </a:p>
        </p:txBody>
      </p:sp>
      <p:sp>
        <p:nvSpPr>
          <p:cNvPr id="6" name="Rounded Rectangle 5"/>
          <p:cNvSpPr/>
          <p:nvPr/>
        </p:nvSpPr>
        <p:spPr>
          <a:xfrm>
            <a:off x="548640" y="1691640"/>
            <a:ext cx="7223760" cy="4343400"/>
          </a:xfrm>
          <a:prstGeom prst="roundRect">
            <a:avLst>
              <a:gd name="adj" fmla="val 3000"/>
            </a:avLst>
          </a:prstGeom>
          <a:solidFill>
            <a:srgbClr val="26323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200"/>
              </a:spcAft>
            </a:pPr>
            <a:r>
              <a:rPr sz="1300" b="0" i="0">
                <a:solidFill>
                  <a:srgbClr val="E6EDF0"/>
                </a:solidFill>
                <a:latin typeface="Consolas"/>
                <a:ea typeface="Consolas"/>
                <a:cs typeface="Consolas"/>
              </a:rPr>
              <a:t>// trajectory.jsonl (cone_0019, 2026-10-23)</a:t>
            </a:r>
          </a:p>
          <a:p>
            <a:pPr algn="l">
              <a:spcAft>
                <a:spcPts val="200"/>
              </a:spcAft>
            </a:pPr>
            <a:r>
              <a:rPr sz="1300" b="0" i="0">
                <a:solidFill>
                  <a:srgbClr val="E6EDF0"/>
                </a:solidFill>
                <a:latin typeface="Consolas"/>
                <a:ea typeface="Consolas"/>
                <a:cs typeface="Consolas"/>
              </a:rPr>
              <a:t>{"turn": 1, "seconds": 6.1,</a:t>
            </a:r>
          </a:p>
          <a:p>
            <a:pPr algn="l">
              <a:spcAft>
                <a:spcPts val="200"/>
              </a:spcAft>
            </a:pPr>
            <a:r>
              <a:rPr sz="1300" b="0" i="0">
                <a:solidFill>
                  <a:srgbClr val="E6EDF0"/>
                </a:solidFill>
                <a:latin typeface="Consolas"/>
                <a:ea typeface="Consolas"/>
                <a:cs typeface="Consolas"/>
              </a:rPr>
              <a:t> "text": "… list_drawings를 호출합니다.",</a:t>
            </a:r>
          </a:p>
          <a:p>
            <a:pPr algn="l">
              <a:spcAft>
                <a:spcPts val="200"/>
              </a:spcAft>
            </a:pPr>
            <a:r>
              <a:rPr sz="1300" b="0" i="0">
                <a:solidFill>
                  <a:srgbClr val="E6EDF0"/>
                </a:solidFill>
                <a:latin typeface="Consolas"/>
                <a:ea typeface="Consolas"/>
                <a:cs typeface="Consolas"/>
              </a:rPr>
              <a:t> "calls": [{"name": "list_drawings",</a:t>
            </a:r>
          </a:p>
          <a:p>
            <a:pPr algn="l">
              <a:spcAft>
                <a:spcPts val="200"/>
              </a:spcAft>
            </a:pPr>
            <a:r>
              <a:rPr sz="1300" b="0" i="0">
                <a:solidFill>
                  <a:srgbClr val="E6EDF0"/>
                </a:solidFill>
                <a:latin typeface="Consolas"/>
                <a:ea typeface="Consolas"/>
                <a:cs typeface="Consolas"/>
              </a:rPr>
              <a:t>            "arguments": {"name": "cone_0019"}}],</a:t>
            </a:r>
          </a:p>
          <a:p>
            <a:pPr algn="l">
              <a:spcAft>
                <a:spcPts val="200"/>
              </a:spcAft>
            </a:pPr>
            <a:r>
              <a:rPr sz="1300" b="0" i="0">
                <a:solidFill>
                  <a:srgbClr val="E6EDF0"/>
                </a:solidFill>
                <a:latin typeface="Consolas"/>
                <a:ea typeface="Consolas"/>
                <a:cs typeface="Consolas"/>
              </a:rPr>
              <a:t> "usage": {"prompt_tokens": 2318, "completion_tokens": 53}}</a:t>
            </a:r>
          </a:p>
          <a:p>
            <a:pPr algn="l">
              <a:spcAft>
                <a:spcPts val="200"/>
              </a:spcAft>
            </a:pPr>
            <a:r>
              <a:rPr sz="1300" b="0" i="0">
                <a:solidFill>
                  <a:srgbClr val="E6EDF0"/>
                </a:solidFill>
                <a:latin typeface="Consolas"/>
                <a:ea typeface="Consolas"/>
                <a:cs typeface="Consolas"/>
              </a:rPr>
              <a:t>{"turn": 1, "tool": "list_drawings", "seconds": 0.0,</a:t>
            </a:r>
          </a:p>
          <a:p>
            <a:pPr algn="l">
              <a:spcAft>
                <a:spcPts val="200"/>
              </a:spcAft>
            </a:pPr>
            <a:r>
              <a:rPr sz="1300" b="0" i="0">
                <a:solidFill>
                  <a:srgbClr val="E6EDF0"/>
                </a:solidFill>
                <a:latin typeface="Consolas"/>
                <a:ea typeface="Consolas"/>
                <a:cs typeface="Consolas"/>
              </a:rPr>
              <a:t> "result": {"count": 1, "drawings": [ … ]}}</a:t>
            </a:r>
          </a:p>
          <a:p>
            <a:pPr algn="l">
              <a:spcAft>
                <a:spcPts val="200"/>
              </a:spcAft>
            </a:pPr>
            <a:r>
              <a:rPr sz="1300" b="0" i="0">
                <a:solidFill>
                  <a:srgbClr val="E6EDF0"/>
                </a:solidFill>
                <a:latin typeface="Consolas"/>
                <a:ea typeface="Consolas"/>
                <a:cs typeface="Consolas"/>
              </a:rPr>
              <a:t>{"turn": 2, "calls": [{"name": "run_stages",</a:t>
            </a:r>
          </a:p>
          <a:p>
            <a:pPr algn="l">
              <a:spcAft>
                <a:spcPts val="200"/>
              </a:spcAft>
            </a:pPr>
            <a:r>
              <a:rPr sz="1300" b="0" i="0">
                <a:solidFill>
                  <a:srgbClr val="E6EDF0"/>
                </a:solidFill>
                <a:latin typeface="Consolas"/>
                <a:ea typeface="Consolas"/>
                <a:cs typeface="Consolas"/>
              </a:rPr>
              <a:t>   "arguments": {"first": "read", "last": "develop", …}}]}</a:t>
            </a:r>
          </a:p>
          <a:p>
            <a:pPr algn="l">
              <a:spcAft>
                <a:spcPts val="200"/>
              </a:spcAft>
            </a:pPr>
            <a:r>
              <a:rPr sz="1300" b="0" i="0">
                <a:solidFill>
                  <a:srgbClr val="E6EDF0"/>
                </a:solidFill>
                <a:latin typeface="Consolas"/>
                <a:ea typeface="Consolas"/>
                <a:cs typeface="Consolas"/>
              </a:rPr>
              <a:t>{"turn": 2, "tool": "run_stages", "seconds": 92.3,</a:t>
            </a:r>
          </a:p>
          <a:p>
            <a:pPr algn="l">
              <a:spcAft>
                <a:spcPts val="200"/>
              </a:spcAft>
            </a:pPr>
            <a:r>
              <a:rPr sz="1300" b="0" i="0">
                <a:solidFill>
                  <a:srgbClr val="E6EDF0"/>
                </a:solidFill>
                <a:latin typeface="Consolas"/>
                <a:ea typeface="Consolas"/>
                <a:cs typeface="Consolas"/>
              </a:rPr>
              <a:t> "result": {"status": "done", "stages": [ … ]}}</a:t>
            </a:r>
          </a:p>
          <a:p>
            <a:pPr algn="l">
              <a:spcAft>
                <a:spcPts val="200"/>
              </a:spcAft>
            </a:pPr>
            <a:r>
              <a:rPr sz="1300" b="0" i="0">
                <a:solidFill>
                  <a:srgbClr val="E6EDF0"/>
                </a:solidFill>
                <a:latin typeface="Consolas"/>
                <a:ea typeface="Consolas"/>
                <a:cs typeface="Consolas"/>
              </a:rPr>
              <a:t>{"turn": 3, "text": "cone_0019 도면 판독이 완료되었습니다. …",</a:t>
            </a:r>
          </a:p>
          <a:p>
            <a:pPr algn="l">
              <a:spcAft>
                <a:spcPts val="200"/>
              </a:spcAft>
            </a:pPr>
            <a:r>
              <a:rPr sz="1300" b="0" i="0">
                <a:solidFill>
                  <a:srgbClr val="E6EDF0"/>
                </a:solidFill>
                <a:latin typeface="Consolas"/>
                <a:ea typeface="Consolas"/>
                <a:cs typeface="Consolas"/>
              </a:rPr>
              <a:t> "calls": [], "usage": {"prompt_tokens": 4328}}</a:t>
            </a:r>
          </a:p>
        </p:txBody>
      </p:sp>
      <p:sp>
        <p:nvSpPr>
          <p:cNvPr id="7" name="Rounded Rectangle 6"/>
          <p:cNvSpPr/>
          <p:nvPr/>
        </p:nvSpPr>
        <p:spPr>
          <a:xfrm>
            <a:off x="8046719" y="1691640"/>
            <a:ext cx="3596335" cy="914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500" b="1" i="0">
                <a:solidFill>
                  <a:srgbClr val="2E6F73"/>
                </a:solidFill>
                <a:latin typeface="Consolas"/>
                <a:ea typeface="Consolas"/>
                <a:cs typeface="Consolas"/>
              </a:rPr>
              <a:t>command.json</a:t>
            </a:r>
          </a:p>
          <a:p>
            <a:pPr algn="l">
              <a:spcAft>
                <a:spcPts val="200"/>
              </a:spcAft>
            </a:pPr>
            <a:r>
              <a:rPr sz="1300" b="0" i="0">
                <a:solidFill>
                  <a:srgbClr val="5F6B73"/>
                </a:solidFill>
                <a:latin typeface="Malgun Gothic"/>
                <a:ea typeface="Malgun Gothic"/>
                <a:cs typeface="Malgun Gothic"/>
              </a:rPr>
              <a:t>명령, 모델, tool 방식, tool 목록 전체</a:t>
            </a:r>
          </a:p>
        </p:txBody>
      </p:sp>
      <p:sp>
        <p:nvSpPr>
          <p:cNvPr id="8" name="Rounded Rectangle 7"/>
          <p:cNvSpPr/>
          <p:nvPr/>
        </p:nvSpPr>
        <p:spPr>
          <a:xfrm>
            <a:off x="8046719" y="2807208"/>
            <a:ext cx="3596335" cy="914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500" b="1" i="0">
                <a:solidFill>
                  <a:srgbClr val="2E6F73"/>
                </a:solidFill>
                <a:latin typeface="Consolas"/>
                <a:ea typeface="Consolas"/>
                <a:cs typeface="Consolas"/>
              </a:rPr>
              <a:t>trajectory.jsonl</a:t>
            </a:r>
          </a:p>
          <a:p>
            <a:pPr algn="l">
              <a:spcAft>
                <a:spcPts val="200"/>
              </a:spcAft>
            </a:pPr>
            <a:r>
              <a:rPr sz="1300" b="0" i="0">
                <a:solidFill>
                  <a:srgbClr val="5F6B73"/>
                </a:solidFill>
                <a:latin typeface="Malgun Gothic"/>
                <a:ea typeface="Malgun Gothic"/>
                <a:cs typeface="Malgun Gothic"/>
              </a:rPr>
              <a:t>턴마다 · tool 호출마다 한 줄</a:t>
            </a:r>
          </a:p>
        </p:txBody>
      </p:sp>
      <p:sp>
        <p:nvSpPr>
          <p:cNvPr id="9" name="Rounded Rectangle 8"/>
          <p:cNvSpPr/>
          <p:nvPr/>
        </p:nvSpPr>
        <p:spPr>
          <a:xfrm>
            <a:off x="8046719" y="3922776"/>
            <a:ext cx="3596335" cy="914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500" b="1" i="0">
                <a:solidFill>
                  <a:srgbClr val="2E6F73"/>
                </a:solidFill>
                <a:latin typeface="Consolas"/>
                <a:ea typeface="Consolas"/>
                <a:cs typeface="Consolas"/>
              </a:rPr>
              <a:t>messages.json</a:t>
            </a:r>
          </a:p>
          <a:p>
            <a:pPr algn="l">
              <a:spcAft>
                <a:spcPts val="200"/>
              </a:spcAft>
            </a:pPr>
            <a:r>
              <a:rPr sz="1300" b="0" i="0">
                <a:solidFill>
                  <a:srgbClr val="5F6B73"/>
                </a:solidFill>
                <a:latin typeface="Malgun Gothic"/>
                <a:ea typeface="Malgun Gothic"/>
                <a:cs typeface="Malgun Gothic"/>
              </a:rPr>
              <a:t>모델에게 보낸 대화 그대로</a:t>
            </a:r>
          </a:p>
        </p:txBody>
      </p:sp>
      <p:sp>
        <p:nvSpPr>
          <p:cNvPr id="10" name="Rounded Rectangle 9"/>
          <p:cNvSpPr/>
          <p:nvPr/>
        </p:nvSpPr>
        <p:spPr>
          <a:xfrm>
            <a:off x="8046719" y="5038344"/>
            <a:ext cx="3596335" cy="91440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500" b="1" i="0">
                <a:solidFill>
                  <a:srgbClr val="2E6F73"/>
                </a:solidFill>
                <a:latin typeface="Consolas"/>
                <a:ea typeface="Consolas"/>
                <a:cs typeface="Consolas"/>
              </a:rPr>
              <a:t>answer.json</a:t>
            </a:r>
          </a:p>
          <a:p>
            <a:pPr algn="l">
              <a:spcAft>
                <a:spcPts val="200"/>
              </a:spcAft>
            </a:pPr>
            <a:r>
              <a:rPr sz="1300" b="0" i="0">
                <a:solidFill>
                  <a:srgbClr val="5F6B73"/>
                </a:solidFill>
                <a:latin typeface="Malgun Gothic"/>
                <a:ea typeface="Malgun Gothic"/>
                <a:cs typeface="Malgun Gothic"/>
              </a:rPr>
              <a:t>마지막 보고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685800"/>
          </a:xfrm>
          <a:prstGeom prst="rect">
            <a:avLst/>
          </a:prstGeom>
          <a:noFill/>
        </p:spPr>
        <p:txBody>
          <a:bodyPr wrap="square" lIns="0" rIns="0" tIns="0" bIns="0" anchor="t">
            <a:spAutoFit/>
          </a:bodyPr>
          <a:lstStyle/>
          <a:p>
            <a:pPr algn="l">
              <a:spcAft>
                <a:spcPts val="600"/>
              </a:spcAft>
            </a:pPr>
            <a:r>
              <a:rPr sz="3400" b="1" i="0">
                <a:solidFill>
                  <a:srgbClr val="1F2A30"/>
                </a:solidFill>
                <a:latin typeface="Malgun Gothic"/>
                <a:ea typeface="Malgun Gothic"/>
                <a:cs typeface="Malgun Gothic"/>
              </a:rPr>
              <a:t>다음 단계</a:t>
            </a:r>
          </a:p>
        </p:txBody>
      </p:sp>
      <p:sp>
        <p:nvSpPr>
          <p:cNvPr id="3" name="TextBox 2"/>
          <p:cNvSpPr txBox="1"/>
          <p:nvPr/>
        </p:nvSpPr>
        <p:spPr>
          <a:xfrm>
            <a:off x="548640" y="1051560"/>
            <a:ext cx="11094415" cy="411480"/>
          </a:xfrm>
          <a:prstGeom prst="rect">
            <a:avLst/>
          </a:prstGeom>
          <a:noFill/>
        </p:spPr>
        <p:txBody>
          <a:bodyPr wrap="square" lIns="0" rIns="0" tIns="0" bIns="0" anchor="t">
            <a:spAutoFit/>
          </a:bodyPr>
          <a:lstStyle/>
          <a:p>
            <a:pPr algn="l">
              <a:spcAft>
                <a:spcPts val="600"/>
              </a:spcAft>
            </a:pPr>
            <a:r>
              <a:rPr sz="1700" b="0" i="0">
                <a:solidFill>
                  <a:srgbClr val="5F6B73"/>
                </a:solidFill>
                <a:latin typeface="Malgun Gothic"/>
                <a:ea typeface="Malgun Gothic"/>
                <a:cs typeface="Malgun Gothic"/>
              </a:rPr>
              <a:t>목표는 '로컬 orchestration 이 고정 순서보다 나쁘지 않다'를 숫자로 보이는 것</a:t>
            </a:r>
          </a:p>
        </p:txBody>
      </p:sp>
      <p:sp>
        <p:nvSpPr>
          <p:cNvPr id="4" name="TextBox 3"/>
          <p:cNvSpPr txBox="1"/>
          <p:nvPr/>
        </p:nvSpPr>
        <p:spPr>
          <a:xfrm>
            <a:off x="548640" y="6355080"/>
            <a:ext cx="8229600" cy="274320"/>
          </a:xfrm>
          <a:prstGeom prst="rect">
            <a:avLst/>
          </a:prstGeom>
          <a:noFill/>
        </p:spPr>
        <p:txBody>
          <a:bodyPr wrap="square" lIns="0" rIns="0" tIns="0" bIns="0" anchor="t">
            <a:spAutoFit/>
          </a:bodyPr>
          <a:lstStyle/>
          <a:p>
            <a:pPr algn="l">
              <a:spcAft>
                <a:spcPts val="600"/>
              </a:spcAft>
            </a:pPr>
            <a:r>
              <a:rPr sz="1000" b="0" i="0">
                <a:solidFill>
                  <a:srgbClr val="5F6B73"/>
                </a:solidFill>
                <a:latin typeface="Malgun Gothic"/>
                <a:ea typeface="Malgun Gothic"/>
                <a:cs typeface="Malgun Gothic"/>
              </a:rPr>
              <a:t>PBL cutplan_agent · 도면 판독 orchestrator · 2026-10-24</a:t>
            </a:r>
          </a:p>
        </p:txBody>
      </p:sp>
      <p:sp>
        <p:nvSpPr>
          <p:cNvPr id="5" name="TextBox 4"/>
          <p:cNvSpPr txBox="1"/>
          <p:nvPr/>
        </p:nvSpPr>
        <p:spPr>
          <a:xfrm>
            <a:off x="10728655" y="6355080"/>
            <a:ext cx="914400" cy="274320"/>
          </a:xfrm>
          <a:prstGeom prst="rect">
            <a:avLst/>
          </a:prstGeom>
          <a:noFill/>
        </p:spPr>
        <p:txBody>
          <a:bodyPr wrap="square" lIns="0" rIns="0" tIns="0" bIns="0" anchor="t">
            <a:spAutoFit/>
          </a:bodyPr>
          <a:lstStyle/>
          <a:p>
            <a:pPr algn="r">
              <a:spcAft>
                <a:spcPts val="600"/>
              </a:spcAft>
            </a:pPr>
            <a:r>
              <a:rPr sz="1000" b="0" i="0">
                <a:solidFill>
                  <a:srgbClr val="5F6B73"/>
                </a:solidFill>
                <a:latin typeface="Malgun Gothic"/>
                <a:ea typeface="Malgun Gothic"/>
                <a:cs typeface="Malgun Gothic"/>
              </a:rPr>
              <a:t>13</a:t>
            </a:r>
          </a:p>
        </p:txBody>
      </p:sp>
      <p:sp>
        <p:nvSpPr>
          <p:cNvPr id="6" name="Rectangle 5"/>
          <p:cNvSpPr/>
          <p:nvPr/>
        </p:nvSpPr>
        <p:spPr>
          <a:xfrm>
            <a:off x="1005840" y="2103120"/>
            <a:ext cx="10180015" cy="45720"/>
          </a:xfrm>
          <a:prstGeom prst="rect">
            <a:avLst/>
          </a:prstGeom>
          <a:solidFill>
            <a:srgbClr val="C9D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34440" y="1783080"/>
            <a:ext cx="731520" cy="73152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200" b="1" i="0">
                <a:solidFill>
                  <a:srgbClr val="FFFFFF"/>
                </a:solidFill>
                <a:latin typeface="Malgun Gothic"/>
                <a:ea typeface="Malgun Gothic"/>
                <a:cs typeface="Malgun Gothic"/>
              </a:rPr>
              <a:t>1</a:t>
            </a:r>
          </a:p>
        </p:txBody>
      </p:sp>
      <p:sp>
        <p:nvSpPr>
          <p:cNvPr id="8" name="Rounded Rectangle 7"/>
          <p:cNvSpPr/>
          <p:nvPr/>
        </p:nvSpPr>
        <p:spPr>
          <a:xfrm>
            <a:off x="548640" y="2743200"/>
            <a:ext cx="2103120" cy="21945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700" b="1" i="0">
                <a:solidFill>
                  <a:srgbClr val="1F2A30"/>
                </a:solidFill>
                <a:latin typeface="Malgun Gothic"/>
                <a:ea typeface="Malgun Gothic"/>
                <a:cs typeface="Malgun Gothic"/>
              </a:rPr>
              <a:t>native 모드 확인</a:t>
            </a:r>
          </a:p>
          <a:p>
            <a:pPr algn="l">
              <a:spcAft>
                <a:spcPts val="800"/>
              </a:spcAft>
            </a:pPr>
            <a:r>
              <a:rPr sz="1500" b="0" i="0">
                <a:solidFill>
                  <a:srgbClr val="5F6B73"/>
                </a:solidFill>
                <a:latin typeface="Malgun Gothic"/>
                <a:ea typeface="Malgun Gothic"/>
                <a:cs typeface="Malgun Gothic"/>
              </a:rPr>
              <a:t>추론 서버를 tool parser 와 함께 재기동</a:t>
            </a:r>
          </a:p>
        </p:txBody>
      </p:sp>
      <p:sp>
        <p:nvSpPr>
          <p:cNvPr id="9" name="Oval 8"/>
          <p:cNvSpPr/>
          <p:nvPr/>
        </p:nvSpPr>
        <p:spPr>
          <a:xfrm>
            <a:off x="3482035" y="1783080"/>
            <a:ext cx="731520" cy="73152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200" b="1" i="0">
                <a:solidFill>
                  <a:srgbClr val="FFFFFF"/>
                </a:solidFill>
                <a:latin typeface="Malgun Gothic"/>
                <a:ea typeface="Malgun Gothic"/>
                <a:cs typeface="Malgun Gothic"/>
              </a:rPr>
              <a:t>2</a:t>
            </a:r>
          </a:p>
        </p:txBody>
      </p:sp>
      <p:sp>
        <p:nvSpPr>
          <p:cNvPr id="10" name="Rounded Rectangle 9"/>
          <p:cNvSpPr/>
          <p:nvPr/>
        </p:nvSpPr>
        <p:spPr>
          <a:xfrm>
            <a:off x="2796235" y="2743200"/>
            <a:ext cx="2103120" cy="21945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700" b="1" i="0">
                <a:solidFill>
                  <a:srgbClr val="1F2A30"/>
                </a:solidFill>
                <a:latin typeface="Malgun Gothic"/>
                <a:ea typeface="Malgun Gothic"/>
                <a:cs typeface="Malgun Gothic"/>
              </a:rPr>
              <a:t>고정 순서 vs orchestrator</a:t>
            </a:r>
          </a:p>
          <a:p>
            <a:pPr algn="l">
              <a:spcAft>
                <a:spcPts val="800"/>
              </a:spcAft>
            </a:pPr>
            <a:r>
              <a:rPr sz="1500" b="0" i="0">
                <a:solidFill>
                  <a:srgbClr val="5F6B73"/>
                </a:solidFill>
                <a:latin typeface="Malgun Gothic"/>
                <a:ea typeface="Malgun Gothic"/>
                <a:cs typeface="Malgun Gothic"/>
              </a:rPr>
              <a:t>합성 30장: 단계 결과, 턴, 시간, 토큰</a:t>
            </a:r>
          </a:p>
        </p:txBody>
      </p:sp>
      <p:sp>
        <p:nvSpPr>
          <p:cNvPr id="11" name="Oval 10"/>
          <p:cNvSpPr/>
          <p:nvPr/>
        </p:nvSpPr>
        <p:spPr>
          <a:xfrm>
            <a:off x="5729630" y="1783080"/>
            <a:ext cx="731520" cy="731520"/>
          </a:xfrm>
          <a:prstGeom prst="ellipse">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200" b="1" i="0">
                <a:solidFill>
                  <a:srgbClr val="FFFFFF"/>
                </a:solidFill>
                <a:latin typeface="Malgun Gothic"/>
                <a:ea typeface="Malgun Gothic"/>
                <a:cs typeface="Malgun Gothic"/>
              </a:rPr>
              <a:t>3</a:t>
            </a:r>
          </a:p>
        </p:txBody>
      </p:sp>
      <p:sp>
        <p:nvSpPr>
          <p:cNvPr id="12" name="Rounded Rectangle 11"/>
          <p:cNvSpPr/>
          <p:nvPr/>
        </p:nvSpPr>
        <p:spPr>
          <a:xfrm>
            <a:off x="5043830" y="2743200"/>
            <a:ext cx="2103120" cy="21945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700" b="1" i="0">
                <a:solidFill>
                  <a:srgbClr val="1F2A30"/>
                </a:solidFill>
                <a:latin typeface="Malgun Gothic"/>
                <a:ea typeface="Malgun Gothic"/>
                <a:cs typeface="Malgun Gothic"/>
              </a:rPr>
              <a:t>Claude vs 로컬</a:t>
            </a:r>
          </a:p>
          <a:p>
            <a:pPr algn="l">
              <a:spcAft>
                <a:spcPts val="800"/>
              </a:spcAft>
            </a:pPr>
            <a:r>
              <a:rPr sz="1500" b="0" i="0">
                <a:solidFill>
                  <a:srgbClr val="5F6B73"/>
                </a:solidFill>
                <a:latin typeface="Malgun Gothic"/>
                <a:ea typeface="Malgun Gothic"/>
                <a:cs typeface="Malgun Gothic"/>
              </a:rPr>
              <a:t>같은 tool · 루프 · 기록으로 비교</a:t>
            </a:r>
          </a:p>
        </p:txBody>
      </p:sp>
      <p:sp>
        <p:nvSpPr>
          <p:cNvPr id="13" name="Oval 12"/>
          <p:cNvSpPr/>
          <p:nvPr/>
        </p:nvSpPr>
        <p:spPr>
          <a:xfrm>
            <a:off x="7977225" y="1783080"/>
            <a:ext cx="731520" cy="731520"/>
          </a:xfrm>
          <a:prstGeom prst="ellipse">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200" b="1" i="0">
                <a:solidFill>
                  <a:srgbClr val="FFFFFF"/>
                </a:solidFill>
                <a:latin typeface="Malgun Gothic"/>
                <a:ea typeface="Malgun Gothic"/>
                <a:cs typeface="Malgun Gothic"/>
              </a:rPr>
              <a:t>4</a:t>
            </a:r>
          </a:p>
        </p:txBody>
      </p:sp>
      <p:sp>
        <p:nvSpPr>
          <p:cNvPr id="14" name="Rounded Rectangle 13"/>
          <p:cNvSpPr/>
          <p:nvPr/>
        </p:nvSpPr>
        <p:spPr>
          <a:xfrm>
            <a:off x="7291425" y="2743200"/>
            <a:ext cx="2103120" cy="21945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700" b="1" i="0">
                <a:solidFill>
                  <a:srgbClr val="1F2A30"/>
                </a:solidFill>
                <a:latin typeface="Malgun Gothic"/>
                <a:ea typeface="Malgun Gothic"/>
                <a:cs typeface="Malgun Gothic"/>
              </a:rPr>
              <a:t>보완 장치</a:t>
            </a:r>
          </a:p>
          <a:p>
            <a:pPr algn="l">
              <a:spcAft>
                <a:spcPts val="800"/>
              </a:spcAft>
            </a:pPr>
            <a:r>
              <a:rPr sz="1500" b="0" i="0">
                <a:solidFill>
                  <a:srgbClr val="5F6B73"/>
                </a:solidFill>
                <a:latin typeface="Malgun Gothic"/>
                <a:ea typeface="Malgun Gothic"/>
                <a:cs typeface="Malgun Gothic"/>
              </a:rPr>
              <a:t>모델 오류 · review 가 있으면 다시 묻기를 orchestrator 가 판단</a:t>
            </a:r>
          </a:p>
        </p:txBody>
      </p:sp>
      <p:sp>
        <p:nvSpPr>
          <p:cNvPr id="15" name="Oval 14"/>
          <p:cNvSpPr/>
          <p:nvPr/>
        </p:nvSpPr>
        <p:spPr>
          <a:xfrm>
            <a:off x="10224820" y="1783080"/>
            <a:ext cx="731520" cy="731520"/>
          </a:xfrm>
          <a:prstGeom prst="ellipse">
            <a:avLst/>
          </a:prstGeom>
          <a:solidFill>
            <a:srgbClr val="2E6F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200" b="1" i="0">
                <a:solidFill>
                  <a:srgbClr val="FFFFFF"/>
                </a:solidFill>
                <a:latin typeface="Malgun Gothic"/>
                <a:ea typeface="Malgun Gothic"/>
                <a:cs typeface="Malgun Gothic"/>
              </a:rPr>
              <a:t>5</a:t>
            </a:r>
          </a:p>
        </p:txBody>
      </p:sp>
      <p:sp>
        <p:nvSpPr>
          <p:cNvPr id="16" name="Rounded Rectangle 15"/>
          <p:cNvSpPr/>
          <p:nvPr/>
        </p:nvSpPr>
        <p:spPr>
          <a:xfrm>
            <a:off x="9539020" y="2743200"/>
            <a:ext cx="2103120" cy="2194560"/>
          </a:xfrm>
          <a:prstGeom prst="roundRect">
            <a:avLst>
              <a:gd name="adj" fmla="val 6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700" b="1" i="0">
                <a:solidFill>
                  <a:srgbClr val="1F2A30"/>
                </a:solidFill>
                <a:latin typeface="Malgun Gothic"/>
                <a:ea typeface="Malgun Gothic"/>
                <a:cs typeface="Malgun Gothic"/>
              </a:rPr>
              <a:t>뒷단 연결</a:t>
            </a:r>
          </a:p>
          <a:p>
            <a:pPr algn="l">
              <a:spcAft>
                <a:spcPts val="800"/>
              </a:spcAft>
            </a:pPr>
            <a:r>
              <a:rPr sz="1500" b="0" i="0">
                <a:solidFill>
                  <a:srgbClr val="5F6B73"/>
                </a:solidFill>
                <a:latin typeface="Malgun Gothic"/>
                <a:ea typeface="Malgun Gothic"/>
                <a:cs typeface="Malgun Gothic"/>
              </a:rPr>
              <a:t>v2 skill(분할 · 네스팅 · POR)을 tool 로 추가</a:t>
            </a:r>
          </a:p>
        </p:txBody>
      </p:sp>
      <p:sp>
        <p:nvSpPr>
          <p:cNvPr id="17" name="Rounded Rectangle 16"/>
          <p:cNvSpPr/>
          <p:nvPr/>
        </p:nvSpPr>
        <p:spPr>
          <a:xfrm>
            <a:off x="548640" y="5166360"/>
            <a:ext cx="11094415" cy="822960"/>
          </a:xfrm>
          <a:prstGeom prst="roundRect">
            <a:avLst>
              <a:gd name="adj" fmla="val 6000"/>
            </a:avLst>
          </a:prstGeom>
          <a:solidFill>
            <a:srgbClr val="FBE7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600" b="1" i="0">
                <a:solidFill>
                  <a:srgbClr val="E8743B"/>
                </a:solidFill>
                <a:latin typeface="Malgun Gothic"/>
                <a:ea typeface="Malgun Gothic"/>
                <a:cs typeface="Malgun Gothic"/>
              </a:rPr>
              <a:t>기준선  </a:t>
            </a:r>
            <a:r>
              <a:rPr sz="1600" b="0" i="0">
                <a:solidFill>
                  <a:srgbClr val="1F2A30"/>
                </a:solidFill>
                <a:latin typeface="Malgun Gothic"/>
                <a:ea typeface="Malgun Gothic"/>
                <a:cs typeface="Malgun Gothic"/>
              </a:rPr>
              <a:t>고정 순서 run.py. 바꿀 때마다 합성 30장으로 전후를 비교하고 docs/harness_engineering.md 에 적는다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A30"/>
        </a:solidFill>
        <a:effectLst/>
      </p:bgPr>
    </p:bg>
    <p:spTree>
      <p:nvGrpSpPr>
        <p:cNvPr id="1" name=""/>
        <p:cNvGrpSpPr/>
        <p:nvPr/>
      </p:nvGrpSpPr>
      <p:grpSpPr/>
      <p:sp>
        <p:nvSpPr>
          <p:cNvPr id="2" name="TextBox 1"/>
          <p:cNvSpPr txBox="1"/>
          <p:nvPr/>
        </p:nvSpPr>
        <p:spPr>
          <a:xfrm>
            <a:off x="548640" y="731520"/>
            <a:ext cx="11094415" cy="731520"/>
          </a:xfrm>
          <a:prstGeom prst="rect">
            <a:avLst/>
          </a:prstGeom>
          <a:noFill/>
        </p:spPr>
        <p:txBody>
          <a:bodyPr wrap="square" lIns="0" rIns="0" tIns="0" bIns="0" anchor="t">
            <a:spAutoFit/>
          </a:bodyPr>
          <a:lstStyle/>
          <a:p>
            <a:pPr algn="l">
              <a:spcAft>
                <a:spcPts val="600"/>
              </a:spcAft>
            </a:pPr>
            <a:r>
              <a:rPr sz="3600" b="1" i="0">
                <a:solidFill>
                  <a:srgbClr val="FFFFFF"/>
                </a:solidFill>
                <a:latin typeface="Malgun Gothic"/>
                <a:ea typeface="Malgun Gothic"/>
                <a:cs typeface="Malgun Gothic"/>
              </a:rPr>
              <a:t>정리</a:t>
            </a:r>
          </a:p>
        </p:txBody>
      </p:sp>
      <p:sp>
        <p:nvSpPr>
          <p:cNvPr id="3" name="Oval 2"/>
          <p:cNvSpPr/>
          <p:nvPr/>
        </p:nvSpPr>
        <p:spPr>
          <a:xfrm>
            <a:off x="548640" y="1828800"/>
            <a:ext cx="640080" cy="64008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latin typeface="Malgun Gothic"/>
                <a:ea typeface="Malgun Gothic"/>
                <a:cs typeface="Malgun Gothic"/>
              </a:rPr>
              <a:t>1</a:t>
            </a:r>
          </a:p>
        </p:txBody>
      </p:sp>
      <p:sp>
        <p:nvSpPr>
          <p:cNvPr id="4" name="TextBox 3"/>
          <p:cNvSpPr txBox="1"/>
          <p:nvPr/>
        </p:nvSpPr>
        <p:spPr>
          <a:xfrm>
            <a:off x="1463040" y="1828800"/>
            <a:ext cx="10180015" cy="640080"/>
          </a:xfrm>
          <a:prstGeom prst="rect">
            <a:avLst/>
          </a:prstGeom>
          <a:noFill/>
        </p:spPr>
        <p:txBody>
          <a:bodyPr wrap="square" lIns="0" rIns="0" tIns="0" bIns="0" anchor="ctr">
            <a:spAutoFit/>
          </a:bodyPr>
          <a:lstStyle/>
          <a:p>
            <a:pPr algn="l">
              <a:spcAft>
                <a:spcPts val="600"/>
              </a:spcAft>
            </a:pPr>
            <a:r>
              <a:rPr sz="2200" b="0" i="0">
                <a:solidFill>
                  <a:srgbClr val="FFFFFF"/>
                </a:solidFill>
                <a:latin typeface="Malgun Gothic"/>
                <a:ea typeface="Malgun Gothic"/>
                <a:cs typeface="Malgun Gothic"/>
              </a:rPr>
              <a:t>판독기는 고정 workflow 였다 → 이제 LLM 이 단계를 골라 부른다</a:t>
            </a:r>
          </a:p>
        </p:txBody>
      </p:sp>
      <p:sp>
        <p:nvSpPr>
          <p:cNvPr id="5" name="Oval 4"/>
          <p:cNvSpPr/>
          <p:nvPr/>
        </p:nvSpPr>
        <p:spPr>
          <a:xfrm>
            <a:off x="548640" y="2971800"/>
            <a:ext cx="640080" cy="64008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latin typeface="Malgun Gothic"/>
                <a:ea typeface="Malgun Gothic"/>
                <a:cs typeface="Malgun Gothic"/>
              </a:rPr>
              <a:t>2</a:t>
            </a:r>
          </a:p>
        </p:txBody>
      </p:sp>
      <p:sp>
        <p:nvSpPr>
          <p:cNvPr id="6" name="TextBox 5"/>
          <p:cNvSpPr txBox="1"/>
          <p:nvPr/>
        </p:nvSpPr>
        <p:spPr>
          <a:xfrm>
            <a:off x="1463040" y="2971800"/>
            <a:ext cx="10180015" cy="640080"/>
          </a:xfrm>
          <a:prstGeom prst="rect">
            <a:avLst/>
          </a:prstGeom>
          <a:noFill/>
        </p:spPr>
        <p:txBody>
          <a:bodyPr wrap="square" lIns="0" rIns="0" tIns="0" bIns="0" anchor="ctr">
            <a:spAutoFit/>
          </a:bodyPr>
          <a:lstStyle/>
          <a:p>
            <a:pPr algn="l">
              <a:spcAft>
                <a:spcPts val="600"/>
              </a:spcAft>
            </a:pPr>
            <a:r>
              <a:rPr sz="2200" b="0" i="0">
                <a:solidFill>
                  <a:srgbClr val="FFFFFF"/>
                </a:solidFill>
                <a:latin typeface="Malgun Gothic"/>
                <a:ea typeface="Malgun Gothic"/>
                <a:cs typeface="Malgun Gothic"/>
              </a:rPr>
              <a:t>필요한 것은 MCP 가 아니라 tool calling 이었다</a:t>
            </a:r>
          </a:p>
        </p:txBody>
      </p:sp>
      <p:sp>
        <p:nvSpPr>
          <p:cNvPr id="7" name="Oval 6"/>
          <p:cNvSpPr/>
          <p:nvPr/>
        </p:nvSpPr>
        <p:spPr>
          <a:xfrm>
            <a:off x="548640" y="4114800"/>
            <a:ext cx="640080" cy="640080"/>
          </a:xfrm>
          <a:prstGeom prst="ellipse">
            <a:avLst/>
          </a:prstGeom>
          <a:solidFill>
            <a:srgbClr val="E87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2000" b="1" i="0">
                <a:solidFill>
                  <a:srgbClr val="FFFFFF"/>
                </a:solidFill>
                <a:latin typeface="Malgun Gothic"/>
                <a:ea typeface="Malgun Gothic"/>
                <a:cs typeface="Malgun Gothic"/>
              </a:rPr>
              <a:t>3</a:t>
            </a:r>
          </a:p>
        </p:txBody>
      </p:sp>
      <p:sp>
        <p:nvSpPr>
          <p:cNvPr id="8" name="TextBox 7"/>
          <p:cNvSpPr txBox="1"/>
          <p:nvPr/>
        </p:nvSpPr>
        <p:spPr>
          <a:xfrm>
            <a:off x="1463040" y="4114800"/>
            <a:ext cx="10180015" cy="640080"/>
          </a:xfrm>
          <a:prstGeom prst="rect">
            <a:avLst/>
          </a:prstGeom>
          <a:noFill/>
        </p:spPr>
        <p:txBody>
          <a:bodyPr wrap="square" lIns="0" rIns="0" tIns="0" bIns="0" anchor="ctr">
            <a:spAutoFit/>
          </a:bodyPr>
          <a:lstStyle/>
          <a:p>
            <a:pPr algn="l">
              <a:spcAft>
                <a:spcPts val="600"/>
              </a:spcAft>
            </a:pPr>
            <a:r>
              <a:rPr sz="2200" b="0" i="0">
                <a:solidFill>
                  <a:srgbClr val="FFFFFF"/>
                </a:solidFill>
                <a:latin typeface="Malgun Gothic"/>
                <a:ea typeface="Malgun Gothic"/>
                <a:cs typeface="Malgun Gothic"/>
              </a:rPr>
              <a:t>같은 루프로 로컬과 Claude 를 비교할 수 있다 → 다음은 숫자로 보이기</a:t>
            </a:r>
          </a:p>
        </p:txBody>
      </p:sp>
      <p:sp>
        <p:nvSpPr>
          <p:cNvPr id="9" name="TextBox 8"/>
          <p:cNvSpPr txBox="1"/>
          <p:nvPr/>
        </p:nvSpPr>
        <p:spPr>
          <a:xfrm>
            <a:off x="548640" y="5577840"/>
            <a:ext cx="11094415" cy="548640"/>
          </a:xfrm>
          <a:prstGeom prst="rect">
            <a:avLst/>
          </a:prstGeom>
          <a:noFill/>
        </p:spPr>
        <p:txBody>
          <a:bodyPr wrap="square" lIns="0" rIns="0" tIns="0" bIns="0" anchor="t">
            <a:spAutoFit/>
          </a:bodyPr>
          <a:lstStyle/>
          <a:p>
            <a:pPr algn="l">
              <a:spcAft>
                <a:spcPts val="600"/>
              </a:spcAft>
            </a:pPr>
            <a:r>
              <a:rPr sz="2600" b="1" i="0">
                <a:solidFill>
                  <a:srgbClr val="E8743B"/>
                </a:solidFill>
                <a:latin typeface="Malgun Gothic"/>
                <a:ea typeface="Malgun Gothic"/>
                <a:cs typeface="Malgun Gothic"/>
              </a:rPr>
              <a:t>질문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LLM이 도면 판독 파이프라인을 직접 운영하게 하기</dc:title>
  <dc:subject/>
  <dc:creator>PBL cutplan_agent</dc:creator>
  <cp:keywords/>
  <dc:description>generated using python-pptx</dc:description>
  <cp:lastModifiedBy>Steve Canny</cp:lastModifiedBy>
  <cp:revision>1</cp:revision>
  <dcterms:created xsi:type="dcterms:W3CDTF">2026-01-01T00:00:00Z</dcterms:created>
  <dcterms:modified xsi:type="dcterms:W3CDTF">2026-01-01T00:00:00Z</dcterms:modified>
  <cp:category/>
</cp:coreProperties>
</file>